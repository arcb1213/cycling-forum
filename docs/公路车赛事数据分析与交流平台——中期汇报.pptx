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6" r:id="rId11"/>
    <p:sldId id="264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ABB7"/>
    <a:srgbClr val="F34245"/>
    <a:srgbClr val="272628"/>
    <a:srgbClr val="EB79AF"/>
    <a:srgbClr val="E5C7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324" y="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940050" y="1807845"/>
            <a:ext cx="6311900" cy="1823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1" i="0">
                <a:solidFill>
                  <a:srgbClr val="FABE24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CBD4E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rgbClr val="FABE24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CBD4E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rgbClr val="FABE24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rgbClr val="FABE24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369050" y="1138170"/>
            <a:ext cx="3110229" cy="619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1" i="0">
                <a:solidFill>
                  <a:srgbClr val="FABE24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2175" y="3056106"/>
            <a:ext cx="4977765" cy="2219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CBD4E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letour.fr/en/history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1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6400" y="6019800"/>
            <a:ext cx="2362199" cy="53711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654298" y="1999687"/>
            <a:ext cx="6883400" cy="2505173"/>
          </a:xfrm>
          <a:prstGeom prst="rect">
            <a:avLst/>
          </a:prstGeom>
        </p:spPr>
        <p:txBody>
          <a:bodyPr vert="horz" wrap="square" lIns="0" tIns="2838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235"/>
              </a:spcBef>
            </a:pPr>
            <a:r>
              <a:rPr lang="zh-CN" altLang="en-US" sz="5400" dirty="0">
                <a:solidFill>
                  <a:srgbClr val="F7FAFC"/>
                </a:solidFill>
              </a:rPr>
              <a:t>公路车赛事</a:t>
            </a:r>
            <a:r>
              <a:rPr sz="5400" dirty="0" err="1"/>
              <a:t>数据分析</a:t>
            </a:r>
            <a:r>
              <a:rPr lang="zh-CN" altLang="en-US" sz="5400" dirty="0"/>
              <a:t>与交流</a:t>
            </a:r>
            <a:r>
              <a:rPr sz="5400" spc="-25" dirty="0" err="1">
                <a:solidFill>
                  <a:srgbClr val="F7FAFC"/>
                </a:solidFill>
              </a:rPr>
              <a:t>平台</a:t>
            </a:r>
            <a:endParaRPr sz="5400" dirty="0"/>
          </a:p>
          <a:p>
            <a:pPr algn="ctr">
              <a:lnSpc>
                <a:spcPct val="100000"/>
              </a:lnSpc>
              <a:spcBef>
                <a:spcPts val="1065"/>
              </a:spcBef>
            </a:pPr>
            <a:r>
              <a:rPr sz="2700" b="0" spc="-50" dirty="0">
                <a:solidFill>
                  <a:srgbClr val="94A3B8"/>
                </a:solidFill>
                <a:latin typeface="Microsoft JhengHei"/>
                <a:cs typeface="Microsoft JhengHei"/>
              </a:rPr>
              <a:t>数据库课程设计 - 中期汇报</a:t>
            </a:r>
            <a:endParaRPr sz="2700" dirty="0">
              <a:latin typeface="Microsoft JhengHei"/>
              <a:cs typeface="Microsoft JhengHei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5E69790-D23C-858C-8A7A-3788177F6A39}"/>
              </a:ext>
            </a:extLst>
          </p:cNvPr>
          <p:cNvSpPr txBox="1"/>
          <p:nvPr/>
        </p:nvSpPr>
        <p:spPr>
          <a:xfrm>
            <a:off x="9677400" y="6103693"/>
            <a:ext cx="1866900" cy="369332"/>
          </a:xfrm>
          <a:prstGeom prst="rect">
            <a:avLst/>
          </a:prstGeom>
          <a:solidFill>
            <a:srgbClr val="272628"/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2352733 </a:t>
            </a:r>
            <a:r>
              <a:rPr lang="zh-CN" altLang="en-US" dirty="0">
                <a:solidFill>
                  <a:schemeClr val="bg1"/>
                </a:solidFill>
              </a:rPr>
              <a:t>白佳煜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2AC7D-9462-C478-DE0C-0E3FAB6F0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7E5BB6B1-6D4E-6D9F-A34E-35E35BC0E7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8800" y="611466"/>
            <a:ext cx="4100829" cy="6129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pc="-20" dirty="0">
                <a:solidFill>
                  <a:srgbClr val="F7FAFC"/>
                </a:solidFill>
              </a:rPr>
              <a:t>数据</a:t>
            </a:r>
            <a:r>
              <a:rPr lang="zh-CN" altLang="en-US" spc="-20" dirty="0">
                <a:solidFill>
                  <a:srgbClr val="F34245"/>
                </a:solidFill>
              </a:rPr>
              <a:t>爬取工作</a:t>
            </a:r>
            <a:endParaRPr spc="-15" dirty="0">
              <a:solidFill>
                <a:srgbClr val="F34245"/>
              </a:solidFill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675852C2-D660-C79A-3905-D03185B20086}"/>
              </a:ext>
            </a:extLst>
          </p:cNvPr>
          <p:cNvSpPr txBox="1"/>
          <p:nvPr/>
        </p:nvSpPr>
        <p:spPr>
          <a:xfrm>
            <a:off x="558800" y="1638523"/>
            <a:ext cx="8889999" cy="68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lang="zh-CN" altLang="en-US" sz="1650" spc="-10" dirty="0">
                <a:solidFill>
                  <a:srgbClr val="CBD4E1"/>
                </a:solidFill>
                <a:latin typeface="Microsoft JhengHei"/>
                <a:cs typeface="Microsoft JhengHei"/>
              </a:rPr>
              <a:t>使用</a:t>
            </a:r>
            <a:r>
              <a:rPr lang="en-US" altLang="zh-CN" sz="1650" spc="-10" dirty="0">
                <a:solidFill>
                  <a:srgbClr val="CBD4E1"/>
                </a:solidFill>
                <a:latin typeface="Microsoft JhengHei"/>
                <a:cs typeface="Microsoft JhengHei"/>
              </a:rPr>
              <a:t>python</a:t>
            </a:r>
            <a:r>
              <a:rPr lang="zh-CN" altLang="en-US" sz="1650" spc="-10" dirty="0">
                <a:solidFill>
                  <a:srgbClr val="CBD4E1"/>
                </a:solidFill>
                <a:latin typeface="Microsoft JhengHei"/>
                <a:cs typeface="Microsoft JhengHei"/>
              </a:rPr>
              <a:t>程序从赛事官网上（如环法官网</a:t>
            </a:r>
            <a:r>
              <a:rPr lang="en-US" altLang="zh-CN" sz="1650" spc="-10" dirty="0">
                <a:solidFill>
                  <a:srgbClr val="CBD4E1"/>
                </a:solidFill>
                <a:latin typeface="Microsoft JhengHei"/>
                <a:cs typeface="Microsoft JhengHei"/>
                <a:hlinkClick r:id="rId2"/>
              </a:rPr>
              <a:t>https://www.letour.fr/en/history</a:t>
            </a:r>
            <a:r>
              <a:rPr lang="zh-CN" altLang="en-US" sz="1650" spc="-10" dirty="0">
                <a:solidFill>
                  <a:srgbClr val="CBD4E1"/>
                </a:solidFill>
                <a:latin typeface="Microsoft JhengHei"/>
                <a:cs typeface="Microsoft JhengHei"/>
              </a:rPr>
              <a:t>）爬取原始数据，从而填充项目网站的数据库。</a:t>
            </a:r>
            <a:endParaRPr lang="zh-CN" altLang="en-US" sz="1650" dirty="0">
              <a:latin typeface="Microsoft JhengHei"/>
              <a:cs typeface="Microsoft JhengHei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2E62FD3-7A29-5583-AC6D-0C2119A0D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" y="3048000"/>
            <a:ext cx="4581525" cy="354698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F705ADF-19DE-1B56-5AC6-ED618846FC3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2590800"/>
            <a:ext cx="5586548" cy="4110635"/>
          </a:xfrm>
          <a:prstGeom prst="rect">
            <a:avLst/>
          </a:prstGeom>
        </p:spPr>
      </p:pic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296B5B5F-F2EE-53BB-603D-BD9FE3FC6DC1}"/>
              </a:ext>
            </a:extLst>
          </p:cNvPr>
          <p:cNvCxnSpPr>
            <a:stCxn id="6" idx="3"/>
          </p:cNvCxnSpPr>
          <p:nvPr/>
        </p:nvCxnSpPr>
        <p:spPr>
          <a:xfrm flipV="1">
            <a:off x="5140325" y="4821493"/>
            <a:ext cx="1184275" cy="1"/>
          </a:xfrm>
          <a:prstGeom prst="straightConnector1">
            <a:avLst/>
          </a:prstGeom>
          <a:ln>
            <a:solidFill>
              <a:srgbClr val="F3424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F042A41F-F0B2-3D6B-392E-4164A3FC4494}"/>
              </a:ext>
            </a:extLst>
          </p:cNvPr>
          <p:cNvSpPr txBox="1"/>
          <p:nvPr/>
        </p:nvSpPr>
        <p:spPr>
          <a:xfrm>
            <a:off x="5219701" y="4507617"/>
            <a:ext cx="952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爬取到本地</a:t>
            </a:r>
          </a:p>
        </p:txBody>
      </p:sp>
    </p:spTree>
    <p:extLst>
      <p:ext uri="{BB962C8B-B14F-4D97-AF65-F5344CB8AC3E}">
        <p14:creationId xmlns:p14="http://schemas.microsoft.com/office/powerpoint/2010/main" val="3892289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31002" y="1319210"/>
            <a:ext cx="4794248" cy="17768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5600" y="3352800"/>
            <a:ext cx="4794248" cy="179069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78375" y="1319210"/>
            <a:ext cx="53848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200" spc="-5" dirty="0">
                <a:solidFill>
                  <a:srgbClr val="CBD4E1"/>
                </a:solidFill>
                <a:latin typeface="Microsoft JhengHei"/>
                <a:cs typeface="Microsoft JhengHei"/>
              </a:rPr>
              <a:t>本项目是</a:t>
            </a:r>
            <a:r>
              <a:rPr sz="1200" spc="-5" dirty="0">
                <a:solidFill>
                  <a:srgbClr val="CBD4E1"/>
                </a:solidFill>
                <a:latin typeface="Microsoft JhengHei"/>
                <a:cs typeface="Microsoft JhengHei"/>
              </a:rPr>
              <a:t>⼀个专注于环法、环意、环西这三⼤公路⻋赛事的综合数据分析平台。</a:t>
            </a:r>
            <a:endParaRPr sz="1200" dirty="0">
              <a:latin typeface="Microsoft JhengHei"/>
              <a:cs typeface="Microsoft JhengHe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1750" y="1955861"/>
            <a:ext cx="5465846" cy="2534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CBD4E1"/>
                </a:solidFill>
                <a:latin typeface="Microsoft JhengHei"/>
                <a:cs typeface="Microsoft JhengHei"/>
              </a:rPr>
              <a:t>前端框架: </a:t>
            </a:r>
            <a:r>
              <a:rPr sz="1500" spc="-85" dirty="0">
                <a:solidFill>
                  <a:srgbClr val="CBD4E1"/>
                </a:solidFill>
                <a:latin typeface="Microsoft JhengHei"/>
                <a:cs typeface="Microsoft JhengHei"/>
              </a:rPr>
              <a:t>Vue</a:t>
            </a:r>
            <a:r>
              <a:rPr sz="1500" spc="-35" dirty="0">
                <a:solidFill>
                  <a:srgbClr val="CBD4E1"/>
                </a:solidFill>
                <a:latin typeface="Microsoft JhengHei"/>
                <a:cs typeface="Microsoft JhengHei"/>
              </a:rPr>
              <a:t> </a:t>
            </a:r>
            <a:r>
              <a:rPr sz="1500" dirty="0">
                <a:solidFill>
                  <a:srgbClr val="CBD4E1"/>
                </a:solidFill>
                <a:latin typeface="Microsoft JhengHei"/>
                <a:cs typeface="Microsoft JhengHei"/>
              </a:rPr>
              <a:t>3</a:t>
            </a:r>
            <a:r>
              <a:rPr sz="1500" spc="-114" dirty="0">
                <a:solidFill>
                  <a:srgbClr val="CBD4E1"/>
                </a:solidFill>
                <a:latin typeface="Microsoft JhengHei"/>
                <a:cs typeface="Microsoft JhengHei"/>
              </a:rPr>
              <a:t> + </a:t>
            </a:r>
            <a:r>
              <a:rPr sz="1500" dirty="0">
                <a:solidFill>
                  <a:srgbClr val="CBD4E1"/>
                </a:solidFill>
                <a:latin typeface="Microsoft JhengHei"/>
                <a:cs typeface="Microsoft JhengHei"/>
              </a:rPr>
              <a:t>TypeScript</a:t>
            </a:r>
            <a:r>
              <a:rPr sz="1500" spc="-120" dirty="0">
                <a:solidFill>
                  <a:srgbClr val="CBD4E1"/>
                </a:solidFill>
                <a:latin typeface="Microsoft JhengHei"/>
                <a:cs typeface="Microsoft JhengHei"/>
              </a:rPr>
              <a:t> + </a:t>
            </a:r>
            <a:r>
              <a:rPr sz="1500" spc="-40" dirty="0">
                <a:solidFill>
                  <a:srgbClr val="CBD4E1"/>
                </a:solidFill>
                <a:latin typeface="Microsoft JhengHei"/>
                <a:cs typeface="Microsoft JhengHei"/>
              </a:rPr>
              <a:t>Vite，</a:t>
            </a:r>
            <a:r>
              <a:rPr sz="1500" spc="-20" dirty="0">
                <a:solidFill>
                  <a:srgbClr val="CBD4E1"/>
                </a:solidFill>
                <a:latin typeface="Microsoft JhengHei"/>
                <a:cs typeface="Microsoft JhengHei"/>
              </a:rPr>
              <a:t>打造响应式、强类</a:t>
            </a:r>
            <a:endParaRPr sz="1500" dirty="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500" spc="-5" dirty="0">
                <a:solidFill>
                  <a:srgbClr val="CBD4E1"/>
                </a:solidFill>
                <a:latin typeface="Microsoft JhengHei"/>
                <a:cs typeface="Microsoft JhengHei"/>
              </a:rPr>
              <a:t>型的单⻚应⽤ </a:t>
            </a:r>
            <a:r>
              <a:rPr sz="1500" spc="-10" dirty="0">
                <a:solidFill>
                  <a:srgbClr val="CBD4E1"/>
                </a:solidFill>
                <a:latin typeface="Microsoft JhengHei"/>
                <a:cs typeface="Microsoft JhengHei"/>
              </a:rPr>
              <a:t>(SPA)</a:t>
            </a:r>
            <a:r>
              <a:rPr sz="1500" spc="-50" dirty="0">
                <a:solidFill>
                  <a:srgbClr val="CBD4E1"/>
                </a:solidFill>
                <a:latin typeface="Microsoft JhengHei"/>
                <a:cs typeface="Microsoft JhengHei"/>
              </a:rPr>
              <a:t>。</a:t>
            </a:r>
            <a:endParaRPr sz="1500" dirty="0">
              <a:latin typeface="Microsoft JhengHei"/>
              <a:cs typeface="Microsoft JhengHei"/>
            </a:endParaRPr>
          </a:p>
          <a:p>
            <a:pPr marL="12700" marR="15240">
              <a:lnSpc>
                <a:spcPct val="160000"/>
              </a:lnSpc>
              <a:spcBef>
                <a:spcPts val="540"/>
              </a:spcBef>
            </a:pPr>
            <a:r>
              <a:rPr sz="1500" b="1" dirty="0">
                <a:solidFill>
                  <a:srgbClr val="CBD4E1"/>
                </a:solidFill>
                <a:latin typeface="Microsoft JhengHei"/>
                <a:cs typeface="Microsoft JhengHei"/>
              </a:rPr>
              <a:t>后端框架: </a:t>
            </a:r>
            <a:r>
              <a:rPr sz="1500" dirty="0">
                <a:solidFill>
                  <a:srgbClr val="CBD4E1"/>
                </a:solidFill>
                <a:latin typeface="Microsoft JhengHei"/>
                <a:cs typeface="Microsoft JhengHei"/>
              </a:rPr>
              <a:t>Flask</a:t>
            </a:r>
            <a:r>
              <a:rPr sz="1500" spc="-90" dirty="0">
                <a:solidFill>
                  <a:srgbClr val="CBD4E1"/>
                </a:solidFill>
                <a:latin typeface="Microsoft JhengHei"/>
                <a:cs typeface="Microsoft JhengHei"/>
              </a:rPr>
              <a:t> + </a:t>
            </a:r>
            <a:r>
              <a:rPr sz="1500" spc="-10" dirty="0">
                <a:solidFill>
                  <a:srgbClr val="CBD4E1"/>
                </a:solidFill>
                <a:latin typeface="Microsoft JhengHei"/>
                <a:cs typeface="Microsoft JhengHei"/>
              </a:rPr>
              <a:t>SQLAlchemy，</a:t>
            </a:r>
            <a:r>
              <a:rPr sz="1500" spc="-15" dirty="0">
                <a:solidFill>
                  <a:srgbClr val="CBD4E1"/>
                </a:solidFill>
                <a:latin typeface="Microsoft JhengHei"/>
                <a:cs typeface="Microsoft JhengHei"/>
              </a:rPr>
              <a:t>提供稳健的 </a:t>
            </a:r>
            <a:r>
              <a:rPr sz="1500" spc="-130" dirty="0">
                <a:solidFill>
                  <a:srgbClr val="CBD4E1"/>
                </a:solidFill>
                <a:latin typeface="Microsoft JhengHei"/>
                <a:cs typeface="Microsoft JhengHei"/>
              </a:rPr>
              <a:t>ORM</a:t>
            </a:r>
            <a:r>
              <a:rPr sz="1500" spc="-15" dirty="0">
                <a:solidFill>
                  <a:srgbClr val="CBD4E1"/>
                </a:solidFill>
                <a:latin typeface="Microsoft JhengHei"/>
                <a:cs typeface="Microsoft JhengHei"/>
              </a:rPr>
              <a:t> 映射与</a:t>
            </a:r>
            <a:r>
              <a:rPr sz="1500" spc="-50" dirty="0">
                <a:solidFill>
                  <a:srgbClr val="CBD4E1"/>
                </a:solidFill>
                <a:latin typeface="Microsoft JhengHei"/>
                <a:cs typeface="Microsoft JhengHei"/>
              </a:rPr>
              <a:t> </a:t>
            </a:r>
            <a:r>
              <a:rPr sz="1500" dirty="0">
                <a:solidFill>
                  <a:srgbClr val="CBD4E1"/>
                </a:solidFill>
                <a:latin typeface="Microsoft JhengHei"/>
                <a:cs typeface="Microsoft JhengHei"/>
              </a:rPr>
              <a:t>RESTful</a:t>
            </a:r>
            <a:r>
              <a:rPr sz="1500" spc="-25" dirty="0">
                <a:solidFill>
                  <a:srgbClr val="CBD4E1"/>
                </a:solidFill>
                <a:latin typeface="Microsoft JhengHei"/>
                <a:cs typeface="Microsoft JhengHei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Microsoft JhengHei"/>
                <a:cs typeface="Microsoft JhengHei"/>
              </a:rPr>
              <a:t>API</a:t>
            </a:r>
            <a:r>
              <a:rPr sz="1500" spc="-25" dirty="0">
                <a:solidFill>
                  <a:srgbClr val="CBD4E1"/>
                </a:solidFill>
                <a:latin typeface="Microsoft JhengHei"/>
                <a:cs typeface="Microsoft JhengHei"/>
              </a:rPr>
              <a:t> 服务。</a:t>
            </a:r>
            <a:endParaRPr sz="1500" dirty="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sz="1500" b="1" spc="20" dirty="0" err="1">
                <a:solidFill>
                  <a:srgbClr val="CBD4E1"/>
                </a:solidFill>
                <a:latin typeface="Microsoft JhengHei"/>
                <a:cs typeface="Microsoft JhengHei"/>
              </a:rPr>
              <a:t>数据库</a:t>
            </a:r>
            <a:r>
              <a:rPr sz="1500" b="1" spc="20" dirty="0">
                <a:solidFill>
                  <a:srgbClr val="CBD4E1"/>
                </a:solidFill>
                <a:latin typeface="Microsoft JhengHei"/>
                <a:cs typeface="Microsoft JhengHei"/>
              </a:rPr>
              <a:t>:</a:t>
            </a:r>
            <a:r>
              <a:rPr lang="en-US" sz="1500" b="1" spc="20" dirty="0">
                <a:solidFill>
                  <a:srgbClr val="CBD4E1"/>
                </a:solidFill>
                <a:latin typeface="Microsoft JhengHei"/>
                <a:cs typeface="Microsoft JhengHei"/>
              </a:rPr>
              <a:t> </a:t>
            </a:r>
            <a:r>
              <a:rPr lang="en-US" altLang="zh-CN" sz="1500" b="1" spc="20" dirty="0" err="1">
                <a:solidFill>
                  <a:srgbClr val="CBD4E1"/>
                </a:solidFill>
                <a:latin typeface="Microsoft JhengHei"/>
                <a:cs typeface="Microsoft JhengHei"/>
              </a:rPr>
              <a:t>Sqlite</a:t>
            </a:r>
            <a:r>
              <a:rPr lang="zh-CN" altLang="en-US" sz="1500" spc="-20" dirty="0">
                <a:solidFill>
                  <a:srgbClr val="CBD4E1"/>
                </a:solidFill>
                <a:latin typeface="Microsoft JhengHei"/>
                <a:cs typeface="Microsoft JhengHei"/>
              </a:rPr>
              <a:t>，迅捷可靠，</a:t>
            </a:r>
            <a:r>
              <a:rPr sz="1500" spc="-20" dirty="0">
                <a:solidFill>
                  <a:srgbClr val="CBD4E1"/>
                </a:solidFill>
                <a:latin typeface="Microsoft JhengHei"/>
                <a:cs typeface="Microsoft JhengHei"/>
              </a:rPr>
              <a:t>⽤</a:t>
            </a:r>
            <a:r>
              <a:rPr sz="1500" spc="-20" dirty="0" err="1">
                <a:solidFill>
                  <a:srgbClr val="CBD4E1"/>
                </a:solidFill>
                <a:latin typeface="Microsoft JhengHei"/>
                <a:cs typeface="Microsoft JhengHei"/>
              </a:rPr>
              <a:t>于结构化存储海量历史赛事数据</a:t>
            </a:r>
            <a:r>
              <a:rPr lang="zh-CN" altLang="en-US" sz="1500" spc="-20" dirty="0">
                <a:solidFill>
                  <a:srgbClr val="CBD4E1"/>
                </a:solidFill>
                <a:latin typeface="Microsoft JhengHei"/>
                <a:cs typeface="Microsoft JhengHei"/>
              </a:rPr>
              <a:t>以及后续要实现的论坛功能中的用户信息、对话信息</a:t>
            </a:r>
            <a:r>
              <a:rPr sz="1500" spc="-20" dirty="0">
                <a:solidFill>
                  <a:srgbClr val="CBD4E1"/>
                </a:solidFill>
                <a:latin typeface="Microsoft JhengHei"/>
                <a:cs typeface="Microsoft JhengHei"/>
              </a:rPr>
              <a:t>。</a:t>
            </a:r>
            <a:endParaRPr sz="1500" dirty="0">
              <a:latin typeface="Microsoft JhengHei"/>
              <a:cs typeface="Microsoft JhengHei"/>
            </a:endParaRPr>
          </a:p>
          <a:p>
            <a:pPr marL="12700" marR="5080">
              <a:lnSpc>
                <a:spcPct val="160000"/>
              </a:lnSpc>
              <a:spcBef>
                <a:spcPts val="1020"/>
              </a:spcBef>
            </a:pPr>
            <a:r>
              <a:rPr sz="1500" b="1" spc="-15" dirty="0">
                <a:solidFill>
                  <a:srgbClr val="CBD4E1"/>
                </a:solidFill>
                <a:latin typeface="Microsoft JhengHei"/>
                <a:cs typeface="Microsoft JhengHei"/>
              </a:rPr>
              <a:t>视觉设计: </a:t>
            </a:r>
            <a:r>
              <a:rPr sz="1500" spc="-5" dirty="0">
                <a:solidFill>
                  <a:srgbClr val="CBD4E1"/>
                </a:solidFill>
                <a:latin typeface="Microsoft JhengHei"/>
                <a:cs typeface="Microsoft JhengHei"/>
              </a:rPr>
              <a:t>采⽤“圆锥渐变”与“⽑玻璃”效果，营造沉浸</a:t>
            </a:r>
            <a:r>
              <a:rPr sz="1500" spc="-20" dirty="0">
                <a:solidFill>
                  <a:srgbClr val="CBD4E1"/>
                </a:solidFill>
                <a:latin typeface="Microsoft JhengHei"/>
                <a:cs typeface="Microsoft JhengHei"/>
              </a:rPr>
              <a:t>式 </a:t>
            </a:r>
            <a:r>
              <a:rPr sz="1500" spc="-10" dirty="0">
                <a:solidFill>
                  <a:srgbClr val="CBD4E1"/>
                </a:solidFill>
                <a:latin typeface="Microsoft JhengHei"/>
                <a:cs typeface="Microsoft JhengHei"/>
              </a:rPr>
              <a:t>UI</a:t>
            </a:r>
            <a:r>
              <a:rPr sz="1500" spc="-50" dirty="0">
                <a:solidFill>
                  <a:srgbClr val="CBD4E1"/>
                </a:solidFill>
                <a:latin typeface="Microsoft JhengHei"/>
                <a:cs typeface="Microsoft JhengHei"/>
              </a:rPr>
              <a:t>。</a:t>
            </a:r>
            <a:endParaRPr sz="1500" dirty="0">
              <a:latin typeface="Microsoft JhengHei"/>
              <a:cs typeface="Microsoft JhengHe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75" y="2014281"/>
            <a:ext cx="133497" cy="2000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75" y="2814381"/>
            <a:ext cx="133497" cy="2000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75" y="3614481"/>
            <a:ext cx="133497" cy="20002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75" y="4109781"/>
            <a:ext cx="133497" cy="200024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7026276" y="1566485"/>
            <a:ext cx="476250" cy="476250"/>
            <a:chOff x="6677025" y="1139130"/>
            <a:chExt cx="476250" cy="47625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77025" y="1139130"/>
              <a:ext cx="476249" cy="47624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26150" y="1262955"/>
              <a:ext cx="177849" cy="228599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7000875" y="3648075"/>
            <a:ext cx="476250" cy="476250"/>
            <a:chOff x="6677025" y="3768030"/>
            <a:chExt cx="476250" cy="476250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77025" y="3768030"/>
              <a:ext cx="476249" cy="47624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26150" y="3891855"/>
              <a:ext cx="177849" cy="22859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7969251" y="1616063"/>
            <a:ext cx="2971800" cy="8361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0" dirty="0">
                <a:solidFill>
                  <a:srgbClr val="FFFFFF"/>
                </a:solidFill>
                <a:latin typeface="Microsoft JhengHei"/>
                <a:cs typeface="Microsoft JhengHei"/>
              </a:rPr>
              <a:t>前端 (</a:t>
            </a:r>
            <a:r>
              <a:rPr sz="2000" b="1" spc="-10" dirty="0">
                <a:solidFill>
                  <a:srgbClr val="FFFFFF"/>
                </a:solidFill>
                <a:latin typeface="Microsoft JhengHei"/>
                <a:cs typeface="Microsoft JhengHei"/>
              </a:rPr>
              <a:t>Frontend)</a:t>
            </a:r>
            <a:endParaRPr sz="2000" dirty="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060"/>
              </a:spcBef>
            </a:pPr>
            <a:r>
              <a:rPr sz="1400" spc="-65" dirty="0">
                <a:solidFill>
                  <a:srgbClr val="94A3B8"/>
                </a:solidFill>
                <a:latin typeface="Microsoft JhengHei"/>
                <a:cs typeface="Microsoft JhengHei"/>
              </a:rPr>
              <a:t>Vue</a:t>
            </a:r>
            <a:r>
              <a:rPr sz="1400" spc="-10" dirty="0">
                <a:solidFill>
                  <a:srgbClr val="94A3B8"/>
                </a:solidFill>
                <a:latin typeface="Microsoft JhengHei"/>
                <a:cs typeface="Microsoft JhengHei"/>
              </a:rPr>
              <a:t> </a:t>
            </a:r>
            <a:r>
              <a:rPr sz="1400" dirty="0">
                <a:solidFill>
                  <a:srgbClr val="94A3B8"/>
                </a:solidFill>
                <a:latin typeface="Microsoft JhengHei"/>
                <a:cs typeface="Microsoft JhengHei"/>
              </a:rPr>
              <a:t>3,</a:t>
            </a:r>
            <a:r>
              <a:rPr sz="1400" spc="-10" dirty="0">
                <a:solidFill>
                  <a:srgbClr val="94A3B8"/>
                </a:solidFill>
                <a:latin typeface="Microsoft JhengHei"/>
                <a:cs typeface="Microsoft JhengHei"/>
              </a:rPr>
              <a:t> </a:t>
            </a:r>
            <a:r>
              <a:rPr sz="1400" spc="-65" dirty="0">
                <a:solidFill>
                  <a:srgbClr val="94A3B8"/>
                </a:solidFill>
                <a:latin typeface="Microsoft JhengHei"/>
                <a:cs typeface="Microsoft JhengHei"/>
              </a:rPr>
              <a:t>Vue</a:t>
            </a:r>
            <a:r>
              <a:rPr sz="1400" spc="-10" dirty="0">
                <a:solidFill>
                  <a:srgbClr val="94A3B8"/>
                </a:solidFill>
                <a:latin typeface="Microsoft JhengHei"/>
                <a:cs typeface="Microsoft JhengHei"/>
              </a:rPr>
              <a:t> </a:t>
            </a:r>
            <a:r>
              <a:rPr sz="1400" spc="-20" dirty="0">
                <a:solidFill>
                  <a:srgbClr val="94A3B8"/>
                </a:solidFill>
                <a:latin typeface="Microsoft JhengHei"/>
                <a:cs typeface="Microsoft JhengHei"/>
              </a:rPr>
              <a:t>Router,</a:t>
            </a:r>
            <a:r>
              <a:rPr sz="1400" spc="-5" dirty="0">
                <a:solidFill>
                  <a:srgbClr val="94A3B8"/>
                </a:solidFill>
                <a:latin typeface="Microsoft JhengHei"/>
                <a:cs typeface="Microsoft JhengHei"/>
              </a:rPr>
              <a:t> </a:t>
            </a:r>
            <a:r>
              <a:rPr sz="1400" spc="-20" dirty="0">
                <a:solidFill>
                  <a:srgbClr val="94A3B8"/>
                </a:solidFill>
                <a:latin typeface="Microsoft JhengHei"/>
                <a:cs typeface="Microsoft JhengHei"/>
              </a:rPr>
              <a:t>Axios</a:t>
            </a:r>
            <a:endParaRPr sz="1400" dirty="0">
              <a:latin typeface="Microsoft JhengHei"/>
              <a:cs typeface="Microsoft JhengHe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930530" y="3648075"/>
            <a:ext cx="2432669" cy="11259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0" dirty="0">
                <a:solidFill>
                  <a:srgbClr val="FFFFFF"/>
                </a:solidFill>
                <a:latin typeface="Microsoft JhengHei"/>
                <a:cs typeface="Microsoft JhengHei"/>
              </a:rPr>
              <a:t>后端 </a:t>
            </a:r>
            <a:r>
              <a:rPr sz="2000" b="1" spc="-10" dirty="0">
                <a:solidFill>
                  <a:srgbClr val="FFFFFF"/>
                </a:solidFill>
                <a:latin typeface="Microsoft JhengHei"/>
                <a:cs typeface="Microsoft JhengHei"/>
              </a:rPr>
              <a:t>(Backend)</a:t>
            </a:r>
            <a:r>
              <a:rPr lang="en-US" sz="2000" b="1" spc="-10" dirty="0">
                <a:solidFill>
                  <a:srgbClr val="FFFFFF"/>
                </a:solidFill>
                <a:latin typeface="Microsoft JhengHei"/>
                <a:cs typeface="Microsoft JhengHei"/>
              </a:rPr>
              <a:t>+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000" b="1" spc="-10" dirty="0">
                <a:solidFill>
                  <a:srgbClr val="FFFFFF"/>
                </a:solidFill>
                <a:latin typeface="Microsoft JhengHei"/>
                <a:cs typeface="Microsoft JhengHei"/>
              </a:rPr>
              <a:t>数据库（</a:t>
            </a:r>
            <a:r>
              <a:rPr lang="en-US" altLang="zh-CN" sz="2000" b="1" spc="-10" dirty="0">
                <a:solidFill>
                  <a:srgbClr val="FFFFFF"/>
                </a:solidFill>
                <a:latin typeface="Microsoft JhengHei"/>
                <a:cs typeface="Microsoft JhengHei"/>
              </a:rPr>
              <a:t>Database</a:t>
            </a:r>
            <a:r>
              <a:rPr lang="zh-CN" altLang="en-US" sz="2000" b="1" spc="-10" dirty="0">
                <a:solidFill>
                  <a:srgbClr val="FFFFFF"/>
                </a:solidFill>
                <a:latin typeface="Microsoft JhengHei"/>
                <a:cs typeface="Microsoft JhengHei"/>
              </a:rPr>
              <a:t>）</a:t>
            </a:r>
            <a:endParaRPr sz="2000" dirty="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065"/>
              </a:spcBef>
            </a:pPr>
            <a:r>
              <a:rPr sz="1400" dirty="0">
                <a:solidFill>
                  <a:srgbClr val="94A3B8"/>
                </a:solidFill>
                <a:latin typeface="Microsoft JhengHei"/>
                <a:cs typeface="Microsoft JhengHei"/>
              </a:rPr>
              <a:t>Flask,</a:t>
            </a:r>
            <a:r>
              <a:rPr sz="1400" spc="80" dirty="0">
                <a:solidFill>
                  <a:srgbClr val="94A3B8"/>
                </a:solidFill>
                <a:latin typeface="Microsoft JhengHei"/>
                <a:cs typeface="Microsoft JhengHei"/>
              </a:rPr>
              <a:t> </a:t>
            </a:r>
            <a:r>
              <a:rPr sz="1400" spc="-20" dirty="0" err="1">
                <a:solidFill>
                  <a:srgbClr val="94A3B8"/>
                </a:solidFill>
                <a:latin typeface="Microsoft JhengHei"/>
                <a:cs typeface="Microsoft JhengHei"/>
              </a:rPr>
              <a:t>SQLAlchemy</a:t>
            </a:r>
            <a:r>
              <a:rPr lang="zh-CN" altLang="en-US" sz="1400" spc="85" dirty="0">
                <a:solidFill>
                  <a:srgbClr val="94A3B8"/>
                </a:solidFill>
                <a:latin typeface="Microsoft JhengHei"/>
                <a:cs typeface="Microsoft JhengHei"/>
              </a:rPr>
              <a:t> </a:t>
            </a:r>
            <a:r>
              <a:rPr sz="1400" spc="-65" dirty="0">
                <a:solidFill>
                  <a:srgbClr val="94A3B8"/>
                </a:solidFill>
                <a:latin typeface="Microsoft JhengHei"/>
                <a:cs typeface="Microsoft JhengHei"/>
              </a:rPr>
              <a:t>ORM</a:t>
            </a:r>
            <a:endParaRPr sz="1400" dirty="0">
              <a:latin typeface="Microsoft JhengHei"/>
              <a:cs typeface="Microsoft JhengHei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5E7688D-02ED-6F27-758D-738BD14072AC}"/>
              </a:ext>
            </a:extLst>
          </p:cNvPr>
          <p:cNvSpPr txBox="1"/>
          <p:nvPr/>
        </p:nvSpPr>
        <p:spPr>
          <a:xfrm>
            <a:off x="304800" y="205988"/>
            <a:ext cx="3276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项目</a:t>
            </a:r>
            <a:r>
              <a:rPr lang="zh-CN" altLang="en-US" sz="3600" dirty="0">
                <a:solidFill>
                  <a:srgbClr val="FFC000"/>
                </a:solidFill>
              </a:rPr>
              <a:t>整体架构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B8B90A85-07D3-902D-B925-C1745437FC1F}"/>
              </a:ext>
            </a:extLst>
          </p:cNvPr>
          <p:cNvGrpSpPr/>
          <p:nvPr/>
        </p:nvGrpSpPr>
        <p:grpSpPr>
          <a:xfrm>
            <a:off x="7000875" y="4359932"/>
            <a:ext cx="476249" cy="483928"/>
            <a:chOff x="6826301" y="4470219"/>
            <a:chExt cx="476249" cy="483928"/>
          </a:xfrm>
        </p:grpSpPr>
        <p:pic>
          <p:nvPicPr>
            <p:cNvPr id="29" name="object 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26301" y="4470219"/>
              <a:ext cx="476249" cy="483928"/>
            </a:xfrm>
            <a:prstGeom prst="rect">
              <a:avLst/>
            </a:prstGeom>
          </p:spPr>
        </p:pic>
        <p:pic>
          <p:nvPicPr>
            <p:cNvPr id="30" name="object 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75426" y="4600183"/>
              <a:ext cx="177849" cy="23993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1965350"/>
            <a:ext cx="3524249" cy="188029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56252" y="1965350"/>
            <a:ext cx="3524249" cy="188029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63076" y="1965350"/>
            <a:ext cx="3524249" cy="188029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54075" y="2073936"/>
            <a:ext cx="352425" cy="331470"/>
            <a:chOff x="866775" y="3444180"/>
            <a:chExt cx="476250" cy="47625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6775" y="3444180"/>
              <a:ext cx="476249" cy="4762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5900" y="3568005"/>
              <a:ext cx="177848" cy="22859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54075" y="2571492"/>
            <a:ext cx="3032125" cy="848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F7FAFC"/>
                </a:solidFill>
                <a:latin typeface="Microsoft JhengHei"/>
                <a:cs typeface="Microsoft JhengHei"/>
              </a:rPr>
              <a:t>Races</a:t>
            </a:r>
            <a:r>
              <a:rPr sz="1600" b="1" spc="-10" dirty="0">
                <a:solidFill>
                  <a:srgbClr val="F7FAFC"/>
                </a:solidFill>
                <a:latin typeface="Microsoft JhengHei"/>
                <a:cs typeface="Microsoft JhengHei"/>
              </a:rPr>
              <a:t> </a:t>
            </a:r>
            <a:r>
              <a:rPr sz="1600" b="1" spc="-300" dirty="0">
                <a:solidFill>
                  <a:srgbClr val="F7FAFC"/>
                </a:solidFill>
                <a:latin typeface="Microsoft JhengHei"/>
                <a:cs typeface="Microsoft JhengHei"/>
              </a:rPr>
              <a:t>&amp;</a:t>
            </a:r>
            <a:r>
              <a:rPr sz="1600" b="1" spc="-10" dirty="0">
                <a:solidFill>
                  <a:srgbClr val="F7FAFC"/>
                </a:solidFill>
                <a:latin typeface="Microsoft JhengHei"/>
                <a:cs typeface="Microsoft JhengHei"/>
              </a:rPr>
              <a:t> Editions</a:t>
            </a:r>
            <a:endParaRPr sz="1600" dirty="0">
              <a:latin typeface="Microsoft JhengHei"/>
              <a:cs typeface="Microsoft JhengHei"/>
            </a:endParaRPr>
          </a:p>
          <a:p>
            <a:pPr marL="12700" marR="5080">
              <a:lnSpc>
                <a:spcPct val="100000"/>
              </a:lnSpc>
              <a:spcBef>
                <a:spcPts val="2150"/>
              </a:spcBef>
            </a:pPr>
            <a:r>
              <a:rPr sz="1000" dirty="0">
                <a:solidFill>
                  <a:srgbClr val="CBD4E1"/>
                </a:solidFill>
                <a:latin typeface="Microsoft JhengHei"/>
                <a:cs typeface="Microsoft JhengHei"/>
              </a:rPr>
              <a:t>层级结构设计：</a:t>
            </a:r>
            <a:r>
              <a:rPr sz="1000" b="1" spc="-10" dirty="0">
                <a:solidFill>
                  <a:srgbClr val="CBD4E1"/>
                </a:solidFill>
                <a:latin typeface="Microsoft JhengHei"/>
                <a:cs typeface="Microsoft JhengHei"/>
              </a:rPr>
              <a:t>赛事 </a:t>
            </a:r>
            <a:r>
              <a:rPr sz="1000" dirty="0">
                <a:solidFill>
                  <a:srgbClr val="CBD4E1"/>
                </a:solidFill>
                <a:latin typeface="Microsoft JhengHei"/>
                <a:cs typeface="Microsoft JhengHei"/>
              </a:rPr>
              <a:t>(Races,</a:t>
            </a:r>
            <a:r>
              <a:rPr sz="1000" spc="-20" dirty="0">
                <a:solidFill>
                  <a:srgbClr val="CBD4E1"/>
                </a:solidFill>
                <a:latin typeface="Microsoft JhengHei"/>
                <a:cs typeface="Microsoft JhengHei"/>
              </a:rPr>
              <a:t> 如环法) 包含</a:t>
            </a:r>
            <a:r>
              <a:rPr sz="1000" dirty="0">
                <a:solidFill>
                  <a:srgbClr val="CBD4E1"/>
                </a:solidFill>
                <a:latin typeface="Microsoft JhengHei"/>
                <a:cs typeface="Microsoft JhengHei"/>
              </a:rPr>
              <a:t>多个历史</a:t>
            </a:r>
            <a:r>
              <a:rPr sz="1000" b="1" spc="-5" dirty="0">
                <a:solidFill>
                  <a:srgbClr val="CBD4E1"/>
                </a:solidFill>
                <a:latin typeface="Microsoft JhengHei"/>
                <a:cs typeface="Microsoft JhengHei"/>
              </a:rPr>
              <a:t>届数 </a:t>
            </a:r>
            <a:r>
              <a:rPr sz="1000" dirty="0">
                <a:solidFill>
                  <a:srgbClr val="CBD4E1"/>
                </a:solidFill>
                <a:latin typeface="Microsoft JhengHei"/>
                <a:cs typeface="Microsoft JhengHei"/>
              </a:rPr>
              <a:t>(Editions,</a:t>
            </a:r>
            <a:r>
              <a:rPr sz="1000" spc="-25" dirty="0">
                <a:solidFill>
                  <a:srgbClr val="CBD4E1"/>
                </a:solidFill>
                <a:latin typeface="Microsoft JhengHei"/>
                <a:cs typeface="Microsoft JhengHei"/>
              </a:rPr>
              <a:t> 如</a:t>
            </a:r>
            <a:r>
              <a:rPr sz="1000" spc="-10" dirty="0">
                <a:solidFill>
                  <a:srgbClr val="CBD4E1"/>
                </a:solidFill>
                <a:latin typeface="Microsoft JhengHei"/>
                <a:cs typeface="Microsoft JhengHei"/>
              </a:rPr>
              <a:t>2024,</a:t>
            </a:r>
            <a:r>
              <a:rPr sz="1000" spc="-15" dirty="0">
                <a:solidFill>
                  <a:srgbClr val="CBD4E1"/>
                </a:solidFill>
                <a:latin typeface="Microsoft JhengHei"/>
                <a:cs typeface="Microsoft JhengHei"/>
              </a:rPr>
              <a:t> </a:t>
            </a:r>
            <a:r>
              <a:rPr sz="1000" spc="-30" dirty="0">
                <a:solidFill>
                  <a:srgbClr val="CBD4E1"/>
                </a:solidFill>
                <a:latin typeface="Microsoft JhengHei"/>
                <a:cs typeface="Microsoft JhengHei"/>
              </a:rPr>
              <a:t>2025)，</a:t>
            </a:r>
            <a:r>
              <a:rPr sz="1000" spc="-50" dirty="0">
                <a:solidFill>
                  <a:srgbClr val="CBD4E1"/>
                </a:solidFill>
                <a:latin typeface="Microsoft JhengHei"/>
                <a:cs typeface="Microsoft JhengHei"/>
              </a:rPr>
              <a:t>⽀</a:t>
            </a:r>
            <a:r>
              <a:rPr sz="1000" spc="-10" dirty="0">
                <a:solidFill>
                  <a:srgbClr val="CBD4E1"/>
                </a:solidFill>
                <a:latin typeface="Microsoft JhengHei"/>
                <a:cs typeface="Microsoft JhengHei"/>
              </a:rPr>
              <a:t>持⽆限的历史扩展。</a:t>
            </a:r>
            <a:endParaRPr sz="1000" dirty="0">
              <a:latin typeface="Microsoft JhengHei"/>
              <a:cs typeface="Microsoft JhengHe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638827" y="2069270"/>
            <a:ext cx="412750" cy="382709"/>
            <a:chOff x="4629150" y="3444180"/>
            <a:chExt cx="476250" cy="47625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29150" y="3444180"/>
              <a:ext cx="476249" cy="47624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78275" y="3568005"/>
              <a:ext cx="177848" cy="22859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638827" y="2628844"/>
            <a:ext cx="2918460" cy="1002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F7FAFC"/>
                </a:solidFill>
                <a:latin typeface="Microsoft JhengHei"/>
                <a:cs typeface="Microsoft JhengHei"/>
              </a:rPr>
              <a:t>Stages</a:t>
            </a:r>
            <a:r>
              <a:rPr sz="1600" b="1" spc="-25" dirty="0">
                <a:solidFill>
                  <a:srgbClr val="F7FAFC"/>
                </a:solidFill>
                <a:latin typeface="Microsoft JhengHei"/>
                <a:cs typeface="Microsoft JhengHei"/>
              </a:rPr>
              <a:t> (赛段)</a:t>
            </a:r>
            <a:endParaRPr sz="1600" dirty="0">
              <a:latin typeface="Microsoft JhengHei"/>
              <a:cs typeface="Microsoft JhengHei"/>
            </a:endParaRPr>
          </a:p>
          <a:p>
            <a:pPr marL="12700" marR="5080">
              <a:lnSpc>
                <a:spcPct val="100000"/>
              </a:lnSpc>
              <a:spcBef>
                <a:spcPts val="2150"/>
              </a:spcBef>
            </a:pPr>
            <a:r>
              <a:rPr sz="1000" spc="-5" dirty="0">
                <a:solidFill>
                  <a:srgbClr val="CBD4E1"/>
                </a:solidFill>
                <a:latin typeface="Microsoft JhengHei"/>
                <a:cs typeface="Microsoft JhengHei"/>
              </a:rPr>
              <a:t>与届数关联。使⽤ </a:t>
            </a:r>
            <a:r>
              <a:rPr sz="1000" spc="-55" dirty="0">
                <a:solidFill>
                  <a:srgbClr val="CBD4E1"/>
                </a:solidFill>
                <a:latin typeface="Microsoft JhengHei"/>
                <a:cs typeface="Microsoft JhengHei"/>
              </a:rPr>
              <a:t>DECIMAL</a:t>
            </a:r>
            <a:r>
              <a:rPr sz="1000" spc="-15" dirty="0">
                <a:solidFill>
                  <a:srgbClr val="CBD4E1"/>
                </a:solidFill>
                <a:latin typeface="Microsoft JhengHei"/>
                <a:cs typeface="Microsoft JhengHei"/>
              </a:rPr>
              <a:t> 类型处理复杂</a:t>
            </a:r>
            <a:r>
              <a:rPr sz="1000" dirty="0">
                <a:solidFill>
                  <a:srgbClr val="CBD4E1"/>
                </a:solidFill>
                <a:latin typeface="Microsoft JhengHei"/>
                <a:cs typeface="Microsoft JhengHei"/>
              </a:rPr>
              <a:t>的赛段编号（</a:t>
            </a:r>
            <a:r>
              <a:rPr sz="1000" spc="-10" dirty="0">
                <a:solidFill>
                  <a:srgbClr val="CBD4E1"/>
                </a:solidFill>
                <a:latin typeface="Microsoft JhengHei"/>
                <a:cs typeface="Microsoft JhengHei"/>
              </a:rPr>
              <a:t>如序幕赛 </a:t>
            </a:r>
            <a:r>
              <a:rPr sz="1000" spc="-20" dirty="0">
                <a:solidFill>
                  <a:srgbClr val="CBD4E1"/>
                </a:solidFill>
                <a:latin typeface="Microsoft JhengHei"/>
                <a:cs typeface="Microsoft JhengHei"/>
              </a:rPr>
              <a:t>Prologue</a:t>
            </a:r>
            <a:r>
              <a:rPr sz="1000" spc="-15" dirty="0">
                <a:solidFill>
                  <a:srgbClr val="CBD4E1"/>
                </a:solidFill>
                <a:latin typeface="Microsoft JhengHei"/>
                <a:cs typeface="Microsoft JhengHei"/>
              </a:rPr>
              <a:t> 存为 </a:t>
            </a:r>
            <a:r>
              <a:rPr sz="1000" spc="-25" dirty="0">
                <a:solidFill>
                  <a:srgbClr val="CBD4E1"/>
                </a:solidFill>
                <a:latin typeface="Microsoft JhengHei"/>
                <a:cs typeface="Microsoft JhengHei"/>
              </a:rPr>
              <a:t>0，</a:t>
            </a:r>
            <a:r>
              <a:rPr sz="1000" spc="-10" dirty="0">
                <a:solidFill>
                  <a:srgbClr val="CBD4E1"/>
                </a:solidFill>
                <a:latin typeface="Microsoft JhengHei"/>
                <a:cs typeface="Microsoft JhengHei"/>
              </a:rPr>
              <a:t>分赛段 </a:t>
            </a:r>
            <a:r>
              <a:rPr sz="1000" spc="-30" dirty="0">
                <a:solidFill>
                  <a:srgbClr val="CBD4E1"/>
                </a:solidFill>
                <a:latin typeface="Microsoft JhengHei"/>
                <a:cs typeface="Microsoft JhengHei"/>
              </a:rPr>
              <a:t>Stage</a:t>
            </a:r>
            <a:r>
              <a:rPr sz="1000" spc="-35" dirty="0">
                <a:solidFill>
                  <a:srgbClr val="CBD4E1"/>
                </a:solidFill>
                <a:latin typeface="Microsoft JhengHei"/>
                <a:cs typeface="Microsoft JhengHei"/>
              </a:rPr>
              <a:t> </a:t>
            </a:r>
            <a:r>
              <a:rPr sz="1000" dirty="0">
                <a:solidFill>
                  <a:srgbClr val="CBD4E1"/>
                </a:solidFill>
                <a:latin typeface="Microsoft JhengHei"/>
                <a:cs typeface="Microsoft JhengHei"/>
              </a:rPr>
              <a:t>1</a:t>
            </a:r>
            <a:r>
              <a:rPr lang="en-US" sz="1000" dirty="0">
                <a:solidFill>
                  <a:srgbClr val="CBD4E1"/>
                </a:solidFill>
                <a:latin typeface="Microsoft JhengHei"/>
                <a:cs typeface="Microsoft JhengHei"/>
              </a:rPr>
              <a:t>.1</a:t>
            </a:r>
            <a:r>
              <a:rPr sz="1000" spc="-20" dirty="0">
                <a:solidFill>
                  <a:srgbClr val="CBD4E1"/>
                </a:solidFill>
                <a:latin typeface="Microsoft JhengHei"/>
                <a:cs typeface="Microsoft JhengHei"/>
              </a:rPr>
              <a:t> 存为 </a:t>
            </a:r>
            <a:r>
              <a:rPr sz="1000" spc="-10" dirty="0">
                <a:solidFill>
                  <a:srgbClr val="CBD4E1"/>
                </a:solidFill>
                <a:latin typeface="Microsoft JhengHei"/>
                <a:cs typeface="Microsoft JhengHei"/>
              </a:rPr>
              <a:t>1.1），</a:t>
            </a:r>
            <a:r>
              <a:rPr sz="1000" spc="-25" dirty="0">
                <a:solidFill>
                  <a:srgbClr val="CBD4E1"/>
                </a:solidFill>
                <a:latin typeface="Microsoft JhengHei"/>
                <a:cs typeface="Microsoft JhengHei"/>
              </a:rPr>
              <a:t>确保存储与排</a:t>
            </a:r>
            <a:r>
              <a:rPr sz="1000" spc="-15" dirty="0">
                <a:solidFill>
                  <a:srgbClr val="CBD4E1"/>
                </a:solidFill>
                <a:latin typeface="Microsoft JhengHei"/>
                <a:cs typeface="Microsoft JhengHei"/>
              </a:rPr>
              <a:t>序准确。</a:t>
            </a:r>
            <a:endParaRPr sz="1000" dirty="0">
              <a:latin typeface="Microsoft JhengHei"/>
              <a:cs typeface="Microsoft JhengHe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445651" y="2095944"/>
            <a:ext cx="357229" cy="353572"/>
            <a:chOff x="8391525" y="3444180"/>
            <a:chExt cx="476250" cy="47625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91525" y="3444180"/>
              <a:ext cx="476249" cy="47624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40650" y="3568005"/>
              <a:ext cx="177848" cy="22859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8423579" y="2580109"/>
            <a:ext cx="2921000" cy="848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F7FAFC"/>
                </a:solidFill>
                <a:latin typeface="Microsoft JhengHei"/>
                <a:cs typeface="Microsoft JhengHei"/>
              </a:rPr>
              <a:t>Stage_Results</a:t>
            </a:r>
            <a:endParaRPr sz="1600" dirty="0">
              <a:latin typeface="Microsoft JhengHei"/>
              <a:cs typeface="Microsoft JhengHei"/>
            </a:endParaRPr>
          </a:p>
          <a:p>
            <a:pPr marL="12700" marR="5080" algn="just">
              <a:lnSpc>
                <a:spcPct val="100000"/>
              </a:lnSpc>
              <a:spcBef>
                <a:spcPts val="2150"/>
              </a:spcBef>
            </a:pPr>
            <a:r>
              <a:rPr sz="1000" dirty="0">
                <a:solidFill>
                  <a:srgbClr val="CBD4E1"/>
                </a:solidFill>
                <a:latin typeface="Microsoft JhengHei"/>
                <a:cs typeface="Microsoft JhengHei"/>
              </a:rPr>
              <a:t>核⼼关系表。连接</a:t>
            </a:r>
            <a:r>
              <a:rPr sz="1000" b="1" dirty="0">
                <a:solidFill>
                  <a:srgbClr val="CBD4E1"/>
                </a:solidFill>
                <a:latin typeface="Microsoft JhengHei"/>
                <a:cs typeface="Microsoft JhengHei"/>
              </a:rPr>
              <a:t>⻋⼿</a:t>
            </a:r>
            <a:r>
              <a:rPr sz="1000" dirty="0">
                <a:solidFill>
                  <a:srgbClr val="CBD4E1"/>
                </a:solidFill>
                <a:latin typeface="Microsoft JhengHei"/>
                <a:cs typeface="Microsoft JhengHei"/>
              </a:rPr>
              <a:t>、</a:t>
            </a:r>
            <a:r>
              <a:rPr sz="1000" b="1" dirty="0">
                <a:solidFill>
                  <a:srgbClr val="CBD4E1"/>
                </a:solidFill>
                <a:latin typeface="Microsoft JhengHei"/>
                <a:cs typeface="Microsoft JhengHei"/>
              </a:rPr>
              <a:t>⻋队</a:t>
            </a:r>
            <a:r>
              <a:rPr sz="1000" dirty="0">
                <a:solidFill>
                  <a:srgbClr val="CBD4E1"/>
                </a:solidFill>
                <a:latin typeface="Microsoft JhengHei"/>
                <a:cs typeface="Microsoft JhengHei"/>
              </a:rPr>
              <a:t>与</a:t>
            </a:r>
            <a:r>
              <a:rPr sz="1000" b="1" dirty="0">
                <a:solidFill>
                  <a:srgbClr val="CBD4E1"/>
                </a:solidFill>
                <a:latin typeface="Microsoft JhengHei"/>
                <a:cs typeface="Microsoft JhengHei"/>
              </a:rPr>
              <a:t>赛段</a:t>
            </a:r>
            <a:r>
              <a:rPr sz="1000" spc="-20" dirty="0">
                <a:solidFill>
                  <a:srgbClr val="CBD4E1"/>
                </a:solidFill>
                <a:latin typeface="Microsoft JhengHei"/>
                <a:cs typeface="Microsoft JhengHei"/>
              </a:rPr>
              <a:t>。成绩</a:t>
            </a:r>
            <a:r>
              <a:rPr sz="1000" spc="-5" dirty="0">
                <a:solidFill>
                  <a:srgbClr val="CBD4E1"/>
                </a:solidFill>
                <a:latin typeface="Microsoft JhengHei"/>
                <a:cs typeface="Microsoft JhengHei"/>
              </a:rPr>
              <a:t>时间归⼀化为“秒”存储，极⼤提升聚合查</a:t>
            </a:r>
            <a:r>
              <a:rPr sz="1000" spc="-15" dirty="0">
                <a:solidFill>
                  <a:srgbClr val="CBD4E1"/>
                </a:solidFill>
                <a:latin typeface="Microsoft JhengHei"/>
                <a:cs typeface="Microsoft JhengHei"/>
              </a:rPr>
              <a:t>询性能。</a:t>
            </a:r>
            <a:endParaRPr sz="1000" dirty="0">
              <a:latin typeface="Microsoft JhengHei"/>
              <a:cs typeface="Microsoft JhengHei"/>
            </a:endParaRPr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551443" y="514833"/>
            <a:ext cx="592455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7FAFC"/>
                </a:solidFill>
              </a:rPr>
              <a:t>数据库</a:t>
            </a:r>
            <a:r>
              <a:rPr spc="-20" dirty="0">
                <a:solidFill>
                  <a:srgbClr val="F472B6"/>
                </a:solidFill>
              </a:rPr>
              <a:t>模式设计 </a:t>
            </a:r>
            <a:r>
              <a:rPr spc="55" dirty="0">
                <a:solidFill>
                  <a:srgbClr val="F7FAFC"/>
                </a:solidFill>
              </a:rPr>
              <a:t>(Schema)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52494" y="1429868"/>
            <a:ext cx="7350125" cy="266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10" dirty="0">
                <a:solidFill>
                  <a:srgbClr val="CBD4E1"/>
                </a:solidFill>
                <a:latin typeface="Microsoft JhengHei"/>
                <a:cs typeface="Microsoft JhengHei"/>
              </a:rPr>
              <a:t>采⽤符合第三范式 (3NF)</a:t>
            </a:r>
            <a:r>
              <a:rPr sz="1650" spc="-20" dirty="0">
                <a:solidFill>
                  <a:srgbClr val="CBD4E1"/>
                </a:solidFill>
                <a:latin typeface="Microsoft JhengHei"/>
                <a:cs typeface="Microsoft JhengHei"/>
              </a:rPr>
              <a:t> 的</a:t>
            </a:r>
            <a:r>
              <a:rPr lang="zh-CN" altLang="en-US" sz="1650" spc="-20" dirty="0">
                <a:solidFill>
                  <a:srgbClr val="CBD4E1"/>
                </a:solidFill>
                <a:latin typeface="Microsoft JhengHei"/>
                <a:cs typeface="Microsoft JhengHei"/>
              </a:rPr>
              <a:t>关</a:t>
            </a:r>
            <a:r>
              <a:rPr sz="1650" spc="-20" dirty="0" err="1">
                <a:solidFill>
                  <a:srgbClr val="CBD4E1"/>
                </a:solidFill>
                <a:latin typeface="Microsoft JhengHei"/>
                <a:cs typeface="Microsoft JhengHei"/>
              </a:rPr>
              <a:t>系型结构</a:t>
            </a:r>
            <a:r>
              <a:rPr sz="1650" spc="-20" dirty="0">
                <a:solidFill>
                  <a:srgbClr val="CBD4E1"/>
                </a:solidFill>
                <a:latin typeface="Microsoft JhengHei"/>
                <a:cs typeface="Microsoft JhengHei"/>
              </a:rPr>
              <a:t>，⾼效管理跨年份、多赛事的复杂数据。</a:t>
            </a:r>
            <a:endParaRPr sz="1650" dirty="0">
              <a:latin typeface="Microsoft JhengHei"/>
              <a:cs typeface="Microsoft JhengHei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9F538C7A-4B43-5C67-D2BF-3B781B395E6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4037225"/>
            <a:ext cx="7380345" cy="2105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76755" y="830541"/>
            <a:ext cx="326072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solidFill>
                  <a:srgbClr val="F7FAFC"/>
                </a:solidFill>
              </a:rPr>
              <a:t>沉浸式 </a:t>
            </a:r>
            <a:r>
              <a:rPr dirty="0"/>
              <a:t>UI</a:t>
            </a:r>
            <a:r>
              <a:rPr spc="-40" dirty="0"/>
              <a:t> 体验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25839" y="2057400"/>
            <a:ext cx="5051425" cy="4873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CBD4E1"/>
                </a:solidFill>
                <a:latin typeface="Microsoft JhengHei"/>
                <a:cs typeface="Microsoft JhengHei"/>
              </a:rPr>
              <a:t>主题配⾊: </a:t>
            </a:r>
            <a:r>
              <a:rPr sz="1500" spc="105" dirty="0" err="1">
                <a:solidFill>
                  <a:srgbClr val="CBD4E1"/>
                </a:solidFill>
                <a:latin typeface="Microsoft JhengHei"/>
                <a:cs typeface="Microsoft JhengHei"/>
              </a:rPr>
              <a:t>深度融合三⼤环赛标志性颜⾊</a:t>
            </a:r>
            <a:r>
              <a:rPr sz="1500" dirty="0" err="1">
                <a:solidFill>
                  <a:srgbClr val="F472B6"/>
                </a:solidFill>
                <a:latin typeface="Microsoft JhengHei"/>
                <a:cs typeface="Microsoft JhengHei"/>
              </a:rPr>
              <a:t>环意粉</a:t>
            </a:r>
            <a:r>
              <a:rPr sz="1500" dirty="0">
                <a:solidFill>
                  <a:srgbClr val="CBD4E1"/>
                </a:solidFill>
                <a:latin typeface="Microsoft JhengHei"/>
                <a:cs typeface="Microsoft JhengHei"/>
              </a:rPr>
              <a:t>、</a:t>
            </a:r>
            <a:endParaRPr lang="en-US" sz="1500" dirty="0">
              <a:solidFill>
                <a:srgbClr val="CBD4E1"/>
              </a:solidFill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60" dirty="0" err="1">
                <a:solidFill>
                  <a:srgbClr val="FABE24"/>
                </a:solidFill>
                <a:latin typeface="Microsoft JhengHei"/>
                <a:cs typeface="Microsoft JhengHei"/>
              </a:rPr>
              <a:t>环法</a:t>
            </a:r>
            <a:r>
              <a:rPr sz="1500" dirty="0">
                <a:solidFill>
                  <a:srgbClr val="FABE24"/>
                </a:solidFill>
                <a:latin typeface="Microsoft JhengHei"/>
                <a:cs typeface="Microsoft JhengHei"/>
              </a:rPr>
              <a:t>⻩</a:t>
            </a:r>
            <a:r>
              <a:rPr sz="1500" dirty="0">
                <a:solidFill>
                  <a:srgbClr val="CBD4E1"/>
                </a:solidFill>
                <a:latin typeface="Microsoft JhengHei"/>
                <a:cs typeface="Microsoft JhengHei"/>
              </a:rPr>
              <a:t>、</a:t>
            </a:r>
            <a:r>
              <a:rPr sz="1500" dirty="0" err="1">
                <a:solidFill>
                  <a:srgbClr val="EE4444"/>
                </a:solidFill>
                <a:latin typeface="Microsoft JhengHei"/>
                <a:cs typeface="Microsoft JhengHei"/>
              </a:rPr>
              <a:t>环西红</a:t>
            </a:r>
            <a:r>
              <a:rPr sz="1500" spc="-50" dirty="0">
                <a:solidFill>
                  <a:srgbClr val="CBD4E1"/>
                </a:solidFill>
                <a:latin typeface="Microsoft JhengHei"/>
                <a:cs typeface="Microsoft JhengHei"/>
              </a:rPr>
              <a:t>。</a:t>
            </a:r>
            <a:endParaRPr sz="1500" dirty="0">
              <a:latin typeface="Microsoft JhengHei"/>
              <a:cs typeface="Microsoft JhengHe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092" y="2091033"/>
            <a:ext cx="127693" cy="16844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5734" y="3117781"/>
            <a:ext cx="127693" cy="16844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091" y="4666032"/>
            <a:ext cx="127693" cy="16844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8CCC08B-405B-CC3E-9B50-0226EA2E9C54}"/>
              </a:ext>
            </a:extLst>
          </p:cNvPr>
          <p:cNvSpPr txBox="1"/>
          <p:nvPr/>
        </p:nvSpPr>
        <p:spPr>
          <a:xfrm>
            <a:off x="790104" y="4619021"/>
            <a:ext cx="4648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lang="zh-CN" altLang="en-US" sz="1500" b="1" spc="-5" dirty="0">
                <a:solidFill>
                  <a:srgbClr val="CBD4E1"/>
                </a:solidFill>
                <a:latin typeface="Microsoft JhengHei"/>
                <a:cs typeface="Microsoft JhengHei"/>
              </a:rPr>
              <a:t>交互细节</a:t>
            </a:r>
            <a:r>
              <a:rPr lang="en-US" altLang="zh-CN" sz="1500" b="1" spc="-5" dirty="0">
                <a:solidFill>
                  <a:srgbClr val="CBD4E1"/>
                </a:solidFill>
                <a:latin typeface="Microsoft JhengHei"/>
                <a:cs typeface="Microsoft JhengHei"/>
              </a:rPr>
              <a:t>: </a:t>
            </a:r>
            <a:r>
              <a:rPr lang="zh-CN" altLang="en-US" sz="1500" spc="-5" dirty="0">
                <a:solidFill>
                  <a:srgbClr val="CBD4E1"/>
                </a:solidFill>
                <a:latin typeface="Microsoft JhengHei"/>
                <a:cs typeface="Microsoft JhengHei"/>
              </a:rPr>
              <a:t>卡⽚悬停时触发 </a:t>
            </a:r>
            <a:r>
              <a:rPr lang="en-US" altLang="zh-CN" sz="1500" spc="-85" dirty="0">
                <a:solidFill>
                  <a:srgbClr val="CBD4E1"/>
                </a:solidFill>
                <a:latin typeface="Microsoft JhengHei"/>
                <a:cs typeface="Microsoft JhengHei"/>
              </a:rPr>
              <a:t>3D</a:t>
            </a:r>
            <a:r>
              <a:rPr lang="zh-CN" altLang="en-US" sz="1500" spc="-15" dirty="0">
                <a:solidFill>
                  <a:srgbClr val="CBD4E1"/>
                </a:solidFill>
                <a:latin typeface="Microsoft JhengHei"/>
                <a:cs typeface="Microsoft JhengHei"/>
              </a:rPr>
              <a:t> 翻转效果，配合响应式布局</a:t>
            </a:r>
            <a:r>
              <a:rPr lang="zh-CN" altLang="en-US" sz="1500" spc="-5" dirty="0">
                <a:solidFill>
                  <a:srgbClr val="CBD4E1"/>
                </a:solidFill>
                <a:latin typeface="Microsoft JhengHei"/>
                <a:cs typeface="Microsoft JhengHei"/>
              </a:rPr>
              <a:t>，提供现代化的 </a:t>
            </a:r>
            <a:r>
              <a:rPr lang="en-US" altLang="zh-CN" sz="1500" spc="-60" dirty="0">
                <a:solidFill>
                  <a:srgbClr val="CBD4E1"/>
                </a:solidFill>
                <a:latin typeface="Microsoft JhengHei"/>
                <a:cs typeface="Microsoft JhengHei"/>
              </a:rPr>
              <a:t>App</a:t>
            </a:r>
            <a:r>
              <a:rPr lang="zh-CN" altLang="en-US" sz="1500" spc="-20" dirty="0">
                <a:solidFill>
                  <a:srgbClr val="CBD4E1"/>
                </a:solidFill>
                <a:latin typeface="Microsoft JhengHei"/>
                <a:cs typeface="Microsoft JhengHei"/>
              </a:rPr>
              <a:t> 级使⽤体验。</a:t>
            </a:r>
            <a:endParaRPr lang="zh-CN" altLang="en-US" sz="1500" dirty="0">
              <a:latin typeface="Microsoft JhengHei"/>
              <a:cs typeface="Microsoft JhengHei"/>
            </a:endParaRPr>
          </a:p>
          <a:p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FA2A1A5-A62A-0A2E-722F-64A4CDCCE2B9}"/>
              </a:ext>
            </a:extLst>
          </p:cNvPr>
          <p:cNvSpPr txBox="1"/>
          <p:nvPr/>
        </p:nvSpPr>
        <p:spPr>
          <a:xfrm>
            <a:off x="782746" y="3042842"/>
            <a:ext cx="46116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b="1" spc="-5" dirty="0">
                <a:solidFill>
                  <a:srgbClr val="CBD4E1"/>
                </a:solidFill>
                <a:latin typeface="Microsoft JhengHei"/>
                <a:cs typeface="Microsoft JhengHei"/>
              </a:rPr>
              <a:t>视觉特效</a:t>
            </a:r>
            <a:r>
              <a:rPr lang="en-US" altLang="zh-CN" sz="1500" b="1" spc="-5" dirty="0">
                <a:solidFill>
                  <a:srgbClr val="CBD4E1"/>
                </a:solidFill>
                <a:latin typeface="Microsoft JhengHei"/>
                <a:cs typeface="Microsoft JhengHei"/>
              </a:rPr>
              <a:t>: </a:t>
            </a:r>
            <a:r>
              <a:rPr lang="zh-CN" altLang="en-US" sz="1500" spc="-5" dirty="0">
                <a:solidFill>
                  <a:srgbClr val="CBD4E1"/>
                </a:solidFill>
                <a:latin typeface="Microsoft JhengHei"/>
                <a:cs typeface="Microsoft JhengHei"/>
              </a:rPr>
              <a:t>⾸⻚采⽤ </a:t>
            </a:r>
            <a:r>
              <a:rPr lang="en-US" altLang="zh-CN" sz="1500" spc="-5" dirty="0">
                <a:solidFill>
                  <a:srgbClr val="CBD4E1"/>
                </a:solidFill>
                <a:latin typeface="Microsoft JhengHei"/>
                <a:cs typeface="Microsoft JhengHei"/>
              </a:rPr>
              <a:t>clip-path</a:t>
            </a:r>
            <a:r>
              <a:rPr lang="zh-CN" altLang="en-US" sz="1500" spc="-15" dirty="0">
                <a:solidFill>
                  <a:srgbClr val="CBD4E1"/>
                </a:solidFill>
                <a:latin typeface="Microsoft JhengHei"/>
                <a:cs typeface="Microsoft JhengHei"/>
              </a:rPr>
              <a:t>实现倾斜布局的粉黄红三条带式背景，展现公路车大环赛主题的同时增加了页面的速度感</a:t>
            </a:r>
            <a:r>
              <a:rPr lang="zh-CN" altLang="en-US" sz="1500" spc="-5" dirty="0">
                <a:solidFill>
                  <a:srgbClr val="CBD4E1"/>
                </a:solidFill>
                <a:latin typeface="Microsoft JhengHei"/>
                <a:cs typeface="Microsoft JhengHei"/>
              </a:rPr>
              <a:t>；导航卡⽚应⽤ </a:t>
            </a:r>
            <a:r>
              <a:rPr lang="en-US" altLang="zh-CN" sz="1500" dirty="0" err="1">
                <a:solidFill>
                  <a:srgbClr val="CBD4E1"/>
                </a:solidFill>
                <a:latin typeface="Microsoft JhengHei"/>
                <a:cs typeface="Microsoft JhengHei"/>
              </a:rPr>
              <a:t>Glassmorphism</a:t>
            </a:r>
            <a:r>
              <a:rPr lang="en-US" altLang="zh-CN" sz="1500" spc="-20" dirty="0">
                <a:solidFill>
                  <a:srgbClr val="CBD4E1"/>
                </a:solidFill>
                <a:latin typeface="Microsoft JhengHei"/>
                <a:cs typeface="Microsoft JhengHei"/>
              </a:rPr>
              <a:t> (</a:t>
            </a:r>
            <a:r>
              <a:rPr lang="zh-CN" altLang="en-US" sz="1500" spc="-20" dirty="0">
                <a:solidFill>
                  <a:srgbClr val="CBD4E1"/>
                </a:solidFill>
                <a:latin typeface="Microsoft JhengHei"/>
                <a:cs typeface="Microsoft JhengHei"/>
              </a:rPr>
              <a:t>⽑玻璃</a:t>
            </a:r>
            <a:r>
              <a:rPr lang="en-US" altLang="zh-CN" sz="1500" spc="-20" dirty="0">
                <a:solidFill>
                  <a:srgbClr val="CBD4E1"/>
                </a:solidFill>
                <a:latin typeface="Microsoft JhengHei"/>
                <a:cs typeface="Microsoft JhengHei"/>
              </a:rPr>
              <a:t>) </a:t>
            </a:r>
            <a:r>
              <a:rPr lang="zh-CN" altLang="en-US" sz="1500" spc="-20" dirty="0">
                <a:solidFill>
                  <a:srgbClr val="CBD4E1"/>
                </a:solidFill>
                <a:latin typeface="Microsoft JhengHei"/>
                <a:cs typeface="Microsoft JhengHei"/>
              </a:rPr>
              <a:t>增加层次</a:t>
            </a:r>
            <a:r>
              <a:rPr lang="zh-CN" altLang="en-US" sz="1500" spc="-25" dirty="0">
                <a:solidFill>
                  <a:srgbClr val="CBD4E1"/>
                </a:solidFill>
                <a:latin typeface="Microsoft JhengHei"/>
                <a:cs typeface="Microsoft JhengHei"/>
              </a:rPr>
              <a:t>感。</a:t>
            </a:r>
            <a:endParaRPr lang="zh-CN" altLang="en-US" sz="1500" dirty="0">
              <a:latin typeface="Microsoft JhengHei"/>
              <a:cs typeface="Microsoft JhengHei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5B1B78E-03FC-8D41-9D16-9AF51F5C6E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449"/>
          <a:stretch>
            <a:fillRect/>
          </a:stretch>
        </p:blipFill>
        <p:spPr>
          <a:xfrm>
            <a:off x="5507144" y="1707745"/>
            <a:ext cx="6482781" cy="36858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0191" y="2754660"/>
            <a:ext cx="923924" cy="3905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3149" y="2754659"/>
            <a:ext cx="923924" cy="3905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06107" y="2754658"/>
            <a:ext cx="923924" cy="390524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58800" y="611466"/>
            <a:ext cx="4100829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solidFill>
                  <a:srgbClr val="F7FAFC"/>
                </a:solidFill>
              </a:rPr>
              <a:t>赛事数据 </a:t>
            </a:r>
            <a:r>
              <a:rPr spc="-15" dirty="0">
                <a:solidFill>
                  <a:srgbClr val="EE4444"/>
                </a:solidFill>
              </a:rPr>
              <a:t>查询引擎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58800" y="1638523"/>
            <a:ext cx="7547609" cy="6963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sz="1650" dirty="0">
                <a:solidFill>
                  <a:srgbClr val="CBD4E1"/>
                </a:solidFill>
                <a:latin typeface="Microsoft JhengHei"/>
                <a:cs typeface="Microsoft JhengHei"/>
              </a:rPr>
              <a:t>实现了三级联动选择系统（</a:t>
            </a:r>
            <a:r>
              <a:rPr sz="1650" spc="-45" dirty="0">
                <a:solidFill>
                  <a:srgbClr val="CBD4E1"/>
                </a:solidFill>
                <a:latin typeface="Microsoft JhengHei"/>
                <a:cs typeface="Microsoft JhengHei"/>
              </a:rPr>
              <a:t>赛事 → 届数 → </a:t>
            </a:r>
            <a:r>
              <a:rPr sz="1650" spc="-45" dirty="0" err="1">
                <a:solidFill>
                  <a:srgbClr val="CBD4E1"/>
                </a:solidFill>
                <a:latin typeface="Microsoft JhengHei"/>
                <a:cs typeface="Microsoft JhengHei"/>
              </a:rPr>
              <a:t>赛段</a:t>
            </a:r>
            <a:r>
              <a:rPr sz="1650" dirty="0">
                <a:solidFill>
                  <a:srgbClr val="CBD4E1"/>
                </a:solidFill>
                <a:latin typeface="Microsoft JhengHei"/>
                <a:cs typeface="Microsoft JhengHei"/>
              </a:rPr>
              <a:t>），</a:t>
            </a:r>
            <a:endParaRPr lang="en-US" sz="1650" dirty="0">
              <a:solidFill>
                <a:srgbClr val="CBD4E1"/>
              </a:solidFill>
              <a:latin typeface="Microsoft JhengHei"/>
              <a:cs typeface="Microsoft JhengHei"/>
            </a:endParaRPr>
          </a:p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sz="1650" spc="-5" dirty="0">
                <a:solidFill>
                  <a:srgbClr val="CBD4E1"/>
                </a:solidFill>
                <a:latin typeface="Microsoft JhengHei"/>
                <a:cs typeface="Microsoft JhengHei"/>
              </a:rPr>
              <a:t>⽤⼾可从宏观赛事瞬间下钻⾄</a:t>
            </a:r>
            <a:r>
              <a:rPr sz="1650" spc="-10" dirty="0">
                <a:solidFill>
                  <a:srgbClr val="CBD4E1"/>
                </a:solidFill>
                <a:latin typeface="Microsoft JhengHei"/>
                <a:cs typeface="Microsoft JhengHei"/>
              </a:rPr>
              <a:t>具体的赛段成绩。</a:t>
            </a:r>
            <a:endParaRPr sz="1650" dirty="0">
              <a:latin typeface="Microsoft JhengHei"/>
              <a:cs typeface="Microsoft JhengHei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C0D1BBB-5E94-F43F-34EB-F9501FA14DEA}"/>
              </a:ext>
            </a:extLst>
          </p:cNvPr>
          <p:cNvSpPr txBox="1"/>
          <p:nvPr/>
        </p:nvSpPr>
        <p:spPr>
          <a:xfrm>
            <a:off x="675442" y="2811421"/>
            <a:ext cx="828673" cy="276999"/>
          </a:xfrm>
          <a:prstGeom prst="rect">
            <a:avLst/>
          </a:prstGeom>
          <a:solidFill>
            <a:srgbClr val="272628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EB79AF"/>
                </a:solidFill>
              </a:rPr>
              <a:t>选择赛事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A93506C-CE16-A37F-2817-4BBFEAE506E8}"/>
              </a:ext>
            </a:extLst>
          </p:cNvPr>
          <p:cNvSpPr txBox="1"/>
          <p:nvPr/>
        </p:nvSpPr>
        <p:spPr>
          <a:xfrm>
            <a:off x="2438400" y="2811421"/>
            <a:ext cx="828673" cy="276999"/>
          </a:xfrm>
          <a:prstGeom prst="rect">
            <a:avLst/>
          </a:prstGeom>
          <a:solidFill>
            <a:srgbClr val="272628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E5C76E"/>
                </a:solidFill>
              </a:rPr>
              <a:t>选择年份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2779615-EAB2-954F-5380-6A4DDFD98C96}"/>
              </a:ext>
            </a:extLst>
          </p:cNvPr>
          <p:cNvSpPr txBox="1"/>
          <p:nvPr/>
        </p:nvSpPr>
        <p:spPr>
          <a:xfrm>
            <a:off x="4201358" y="2819304"/>
            <a:ext cx="828673" cy="276999"/>
          </a:xfrm>
          <a:prstGeom prst="rect">
            <a:avLst/>
          </a:prstGeom>
          <a:solidFill>
            <a:srgbClr val="272628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F34245"/>
                </a:solidFill>
              </a:rPr>
              <a:t>选择赛段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07FED892-4637-2F79-E8AA-5B4890495696}"/>
              </a:ext>
            </a:extLst>
          </p:cNvPr>
          <p:cNvCxnSpPr>
            <a:stCxn id="9" idx="3"/>
            <a:endCxn id="3" idx="1"/>
          </p:cNvCxnSpPr>
          <p:nvPr/>
        </p:nvCxnSpPr>
        <p:spPr>
          <a:xfrm>
            <a:off x="1504115" y="2949921"/>
            <a:ext cx="839034" cy="0"/>
          </a:xfrm>
          <a:prstGeom prst="straightConnector1">
            <a:avLst/>
          </a:prstGeom>
          <a:ln>
            <a:solidFill>
              <a:srgbClr val="E5C76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1110CC2-4EAB-ED01-BBE7-B98603C2911F}"/>
              </a:ext>
            </a:extLst>
          </p:cNvPr>
          <p:cNvCxnSpPr/>
          <p:nvPr/>
        </p:nvCxnSpPr>
        <p:spPr>
          <a:xfrm>
            <a:off x="3267073" y="2957803"/>
            <a:ext cx="839034" cy="0"/>
          </a:xfrm>
          <a:prstGeom prst="straightConnector1">
            <a:avLst/>
          </a:prstGeom>
          <a:ln>
            <a:solidFill>
              <a:srgbClr val="F3424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>
            <a:extLst>
              <a:ext uri="{FF2B5EF4-FFF2-40B4-BE49-F238E27FC236}">
                <a16:creationId xmlns:a16="http://schemas.microsoft.com/office/drawing/2014/main" id="{AD56C0A8-98F0-8F2F-1ACE-E30ECB0A02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800" y="3492953"/>
            <a:ext cx="4699000" cy="996548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505558F8-60DA-2FE2-1DC8-38EEFAF5E4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1699634"/>
            <a:ext cx="6549071" cy="35866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369051" y="603097"/>
            <a:ext cx="3110229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>
                <a:solidFill>
                  <a:srgbClr val="F7FAFC"/>
                </a:solidFill>
              </a:rPr>
              <a:t>⻋⼿ </a:t>
            </a:r>
            <a:r>
              <a:rPr spc="-15" dirty="0"/>
              <a:t>数据透视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69051" y="1599673"/>
            <a:ext cx="5254625" cy="24935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CBD4E1"/>
                </a:solidFill>
                <a:latin typeface="Microsoft JhengHei"/>
                <a:cs typeface="Microsoft JhengHei"/>
              </a:rPr>
              <a:t>为每⼀位职业⻋⼿建⽴的综合个⼈档案视图。</a:t>
            </a:r>
            <a:endParaRPr sz="1600" dirty="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1495"/>
              </a:spcBef>
            </a:pPr>
            <a:endParaRPr sz="1200" dirty="0">
              <a:latin typeface="Microsoft JhengHei"/>
              <a:cs typeface="Microsoft JhengHei"/>
            </a:endParaRPr>
          </a:p>
          <a:p>
            <a:pPr marL="346075">
              <a:lnSpc>
                <a:spcPct val="100000"/>
              </a:lnSpc>
            </a:pPr>
            <a:r>
              <a:rPr sz="1500" b="1" dirty="0">
                <a:solidFill>
                  <a:srgbClr val="CBD4E1"/>
                </a:solidFill>
                <a:latin typeface="Microsoft JhengHei"/>
                <a:cs typeface="Microsoft JhengHei"/>
              </a:rPr>
              <a:t>实时检索: </a:t>
            </a:r>
            <a:r>
              <a:rPr sz="1500" spc="-5" dirty="0">
                <a:solidFill>
                  <a:srgbClr val="CBD4E1"/>
                </a:solidFill>
                <a:latin typeface="Microsoft JhengHei"/>
                <a:cs typeface="Microsoft JhengHei"/>
              </a:rPr>
              <a:t>⽀持按姓名关键词实时过滤⻋⼿库。</a:t>
            </a:r>
            <a:endParaRPr sz="1500" dirty="0">
              <a:latin typeface="Microsoft JhengHei"/>
              <a:cs typeface="Microsoft JhengHei"/>
            </a:endParaRPr>
          </a:p>
          <a:p>
            <a:pPr marL="346075">
              <a:lnSpc>
                <a:spcPct val="100000"/>
              </a:lnSpc>
              <a:spcBef>
                <a:spcPts val="2100"/>
              </a:spcBef>
            </a:pPr>
            <a:r>
              <a:rPr sz="1500" b="1" dirty="0">
                <a:solidFill>
                  <a:srgbClr val="CBD4E1"/>
                </a:solidFill>
                <a:latin typeface="Microsoft JhengHei"/>
                <a:cs typeface="Microsoft JhengHei"/>
              </a:rPr>
              <a:t>核⼼指标: </a:t>
            </a:r>
            <a:r>
              <a:rPr sz="1500" dirty="0">
                <a:solidFill>
                  <a:srgbClr val="CBD4E1"/>
                </a:solidFill>
                <a:latin typeface="Microsoft JhengHei"/>
                <a:cs typeface="Microsoft JhengHei"/>
              </a:rPr>
              <a:t>仪表盘卡⽚展⽰总参赛场次、</a:t>
            </a:r>
            <a:r>
              <a:rPr sz="1500" dirty="0">
                <a:solidFill>
                  <a:srgbClr val="FABE24"/>
                </a:solidFill>
                <a:latin typeface="Microsoft JhengHei"/>
                <a:cs typeface="Microsoft JhengHei"/>
              </a:rPr>
              <a:t>赛段冠军数</a:t>
            </a:r>
            <a:r>
              <a:rPr sz="1500" spc="-20" dirty="0">
                <a:solidFill>
                  <a:srgbClr val="CBD4E1"/>
                </a:solidFill>
                <a:latin typeface="Microsoft JhengHei"/>
                <a:cs typeface="Microsoft JhengHei"/>
              </a:rPr>
              <a:t>及效⼒</a:t>
            </a:r>
            <a:endParaRPr sz="1500" dirty="0">
              <a:latin typeface="Microsoft JhengHei"/>
              <a:cs typeface="Microsoft JhengHei"/>
            </a:endParaRPr>
          </a:p>
          <a:p>
            <a:pPr marL="346075">
              <a:lnSpc>
                <a:spcPct val="100000"/>
              </a:lnSpc>
              <a:spcBef>
                <a:spcPts val="1080"/>
              </a:spcBef>
            </a:pPr>
            <a:r>
              <a:rPr sz="1500" spc="-10" dirty="0">
                <a:solidFill>
                  <a:srgbClr val="CBD4E1"/>
                </a:solidFill>
                <a:latin typeface="Microsoft JhengHei"/>
                <a:cs typeface="Microsoft JhengHei"/>
              </a:rPr>
              <a:t>⻋队历史。</a:t>
            </a:r>
            <a:endParaRPr sz="1500" dirty="0">
              <a:latin typeface="Microsoft JhengHei"/>
              <a:cs typeface="Microsoft JhengHei"/>
            </a:endParaRPr>
          </a:p>
          <a:p>
            <a:pPr marL="346075" marR="33655">
              <a:lnSpc>
                <a:spcPct val="160000"/>
              </a:lnSpc>
              <a:spcBef>
                <a:spcPts val="540"/>
              </a:spcBef>
            </a:pPr>
            <a:r>
              <a:rPr sz="1500" b="1" spc="-15" dirty="0">
                <a:solidFill>
                  <a:srgbClr val="CBD4E1"/>
                </a:solidFill>
                <a:latin typeface="Microsoft JhengHei"/>
                <a:cs typeface="Microsoft JhengHei"/>
              </a:rPr>
              <a:t>懒加载优化: </a:t>
            </a:r>
            <a:r>
              <a:rPr sz="1500" dirty="0">
                <a:solidFill>
                  <a:srgbClr val="CBD4E1"/>
                </a:solidFill>
                <a:latin typeface="Microsoft JhengHei"/>
                <a:cs typeface="Microsoft JhengHei"/>
              </a:rPr>
              <a:t>详细数据标签⻚（如冠军记录、参赛履历）</a:t>
            </a:r>
            <a:r>
              <a:rPr sz="1500" spc="-50" dirty="0">
                <a:solidFill>
                  <a:srgbClr val="CBD4E1"/>
                </a:solidFill>
                <a:latin typeface="Microsoft JhengHei"/>
                <a:cs typeface="Microsoft JhengHei"/>
              </a:rPr>
              <a:t>仅</a:t>
            </a:r>
            <a:r>
              <a:rPr sz="1500" spc="-5" dirty="0">
                <a:solidFill>
                  <a:srgbClr val="CBD4E1"/>
                </a:solidFill>
                <a:latin typeface="Microsoft JhengHei"/>
                <a:cs typeface="Microsoft JhengHei"/>
              </a:rPr>
              <a:t>在⽤⼾</a:t>
            </a:r>
            <a:r>
              <a:rPr sz="1500" spc="-5" dirty="0" err="1">
                <a:solidFill>
                  <a:srgbClr val="CBD4E1"/>
                </a:solidFill>
                <a:latin typeface="Microsoft JhengHei"/>
                <a:cs typeface="Microsoft JhengHei"/>
              </a:rPr>
              <a:t>点击时请求，节省带宽</a:t>
            </a:r>
            <a:r>
              <a:rPr sz="1500" spc="-5" dirty="0">
                <a:solidFill>
                  <a:srgbClr val="CBD4E1"/>
                </a:solidFill>
                <a:latin typeface="Microsoft JhengHei"/>
                <a:cs typeface="Microsoft JhengHei"/>
              </a:rPr>
              <a:t>。</a:t>
            </a:r>
            <a:endParaRPr sz="1500" dirty="0">
              <a:latin typeface="Microsoft JhengHei"/>
              <a:cs typeface="Microsoft JhengHe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751" y="2294743"/>
            <a:ext cx="133497" cy="2000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751" y="2790044"/>
            <a:ext cx="133497" cy="2000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751" y="3590144"/>
            <a:ext cx="133497" cy="200024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E2E74D3A-3AFA-5EF3-A782-7A98BFA03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398" y="286255"/>
            <a:ext cx="3700679" cy="401697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E737D7D-B16D-1E3D-1C8E-D884CDE2E6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4493689"/>
            <a:ext cx="3700679" cy="2135449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BC242EA5-5A25-49D2-2271-1F81427CD0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6511" y="4469992"/>
            <a:ext cx="4205970" cy="21828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68108" y="1617883"/>
            <a:ext cx="5771492" cy="43822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02422" y="1752600"/>
            <a:ext cx="5099685" cy="34015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02422" y="2286000"/>
            <a:ext cx="5130778" cy="34290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02422" y="2819400"/>
            <a:ext cx="5099685" cy="3905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02422" y="3352800"/>
            <a:ext cx="5130778" cy="39052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58800" y="2283467"/>
            <a:ext cx="16256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10" dirty="0">
                <a:solidFill>
                  <a:srgbClr val="F472B6"/>
                </a:solidFill>
                <a:latin typeface="Microsoft JhengHei"/>
                <a:cs typeface="Microsoft JhengHei"/>
              </a:rPr>
              <a:t>性能优化策略</a:t>
            </a:r>
            <a:endParaRPr sz="2100">
              <a:latin typeface="Microsoft JhengHei"/>
              <a:cs typeface="Microsoft JhengHe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95" dirty="0">
                <a:solidFill>
                  <a:srgbClr val="A5ABB7"/>
                </a:solidFill>
                <a:latin typeface="Microsoft JhengHei"/>
                <a:cs typeface="Microsoft JhengHei"/>
              </a:rPr>
              <a:t>ORM</a:t>
            </a:r>
            <a:r>
              <a:rPr b="1" spc="-15" dirty="0">
                <a:solidFill>
                  <a:srgbClr val="A5ABB7"/>
                </a:solidFill>
                <a:latin typeface="Microsoft JhengHei"/>
                <a:cs typeface="Microsoft JhengHei"/>
              </a:rPr>
              <a:t> ⾼效查询: </a:t>
            </a:r>
            <a:r>
              <a:rPr spc="-10" dirty="0">
                <a:solidFill>
                  <a:srgbClr val="A5ABB7"/>
                </a:solidFill>
              </a:rPr>
              <a:t>利⽤ </a:t>
            </a:r>
            <a:r>
              <a:rPr spc="-20" dirty="0">
                <a:solidFill>
                  <a:srgbClr val="A5ABB7"/>
                </a:solidFill>
              </a:rPr>
              <a:t>SQLAlchemy</a:t>
            </a:r>
            <a:r>
              <a:rPr spc="-15" dirty="0">
                <a:solidFill>
                  <a:srgbClr val="A5ABB7"/>
                </a:solidFill>
              </a:rPr>
              <a:t> 管理跨越 </a:t>
            </a:r>
            <a:r>
              <a:rPr dirty="0">
                <a:solidFill>
                  <a:srgbClr val="A5ABB7"/>
                </a:solidFill>
              </a:rPr>
              <a:t>6</a:t>
            </a:r>
            <a:r>
              <a:rPr spc="-20" dirty="0">
                <a:solidFill>
                  <a:srgbClr val="A5ABB7"/>
                </a:solidFill>
              </a:rPr>
              <a:t> 张表的复杂</a:t>
            </a: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>
                <a:solidFill>
                  <a:srgbClr val="A5ABB7"/>
                </a:solidFill>
              </a:rPr>
              <a:t>JOIN</a:t>
            </a:r>
            <a:r>
              <a:rPr spc="-20" dirty="0">
                <a:solidFill>
                  <a:srgbClr val="A5ABB7"/>
                </a:solidFill>
              </a:rPr>
              <a:t> 操作，保持代码整洁。</a:t>
            </a:r>
          </a:p>
          <a:p>
            <a:pPr marL="12700" marR="5080">
              <a:lnSpc>
                <a:spcPct val="160000"/>
              </a:lnSpc>
              <a:spcBef>
                <a:spcPts val="540"/>
              </a:spcBef>
            </a:pPr>
            <a:r>
              <a:rPr b="1" spc="-5" dirty="0">
                <a:latin typeface="Microsoft JhengHei"/>
                <a:cs typeface="Microsoft JhengHei"/>
              </a:rPr>
              <a:t>数据聚合: </a:t>
            </a:r>
            <a:r>
              <a:rPr spc="-10" dirty="0"/>
              <a:t>使⽤ </a:t>
            </a:r>
            <a:r>
              <a:rPr spc="75" dirty="0"/>
              <a:t>`DISTINCT`</a:t>
            </a:r>
            <a:r>
              <a:rPr spc="-15" dirty="0"/>
              <a:t> 和分组查询 </a:t>
            </a:r>
            <a:r>
              <a:rPr spc="-25" dirty="0"/>
              <a:t>(Group </a:t>
            </a:r>
            <a:r>
              <a:rPr dirty="0"/>
              <a:t>By)</a:t>
            </a:r>
            <a:r>
              <a:rPr spc="-20" dirty="0"/>
              <a:t> 在后端</a:t>
            </a:r>
            <a:r>
              <a:rPr spc="-5" dirty="0"/>
              <a:t>实时计算⻋队历史和冠军统计。</a:t>
            </a:r>
          </a:p>
          <a:p>
            <a:pPr marL="12700" marR="83185">
              <a:lnSpc>
                <a:spcPct val="160000"/>
              </a:lnSpc>
              <a:spcBef>
                <a:spcPts val="540"/>
              </a:spcBef>
            </a:pPr>
            <a:r>
              <a:rPr b="1" dirty="0">
                <a:latin typeface="Microsoft JhengHei"/>
                <a:cs typeface="Microsoft JhengHei"/>
              </a:rPr>
              <a:t>数据格式化: </a:t>
            </a:r>
            <a:r>
              <a:rPr dirty="0"/>
              <a:t>时间转换逻辑（秒转 </a:t>
            </a:r>
            <a:r>
              <a:rPr spc="-65" dirty="0"/>
              <a:t>HH:MM:SS）</a:t>
            </a:r>
            <a:r>
              <a:rPr spc="-10" dirty="0"/>
              <a:t>在后端统⼀</a:t>
            </a:r>
            <a:r>
              <a:rPr spc="-5" dirty="0"/>
              <a:t>处理，减轻前端逻辑负担。</a:t>
            </a: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558800" y="348488"/>
            <a:ext cx="353822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>
                <a:solidFill>
                  <a:srgbClr val="F7FAFC"/>
                </a:solidFill>
              </a:rPr>
              <a:t>后端与 </a:t>
            </a:r>
            <a:r>
              <a:rPr dirty="0">
                <a:solidFill>
                  <a:srgbClr val="F472B6"/>
                </a:solidFill>
              </a:rPr>
              <a:t>API</a:t>
            </a:r>
            <a:r>
              <a:rPr spc="-60" dirty="0">
                <a:solidFill>
                  <a:srgbClr val="F472B6"/>
                </a:solidFill>
              </a:rPr>
              <a:t> 设计</a:t>
            </a: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1500" y="3125054"/>
            <a:ext cx="127693" cy="16844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1500" y="3925153"/>
            <a:ext cx="127693" cy="16844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1500" y="4725254"/>
            <a:ext cx="127693" cy="168441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0B78F214-7249-C1E4-9E3F-BCB1DF47FE11}"/>
              </a:ext>
            </a:extLst>
          </p:cNvPr>
          <p:cNvSpPr txBox="1"/>
          <p:nvPr/>
        </p:nvSpPr>
        <p:spPr>
          <a:xfrm>
            <a:off x="6651645" y="1769519"/>
            <a:ext cx="2409825" cy="307777"/>
          </a:xfrm>
          <a:prstGeom prst="rect">
            <a:avLst/>
          </a:prstGeom>
          <a:solidFill>
            <a:srgbClr val="272628"/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spc="-25" dirty="0">
                <a:solidFill>
                  <a:srgbClr val="FABE24"/>
                </a:solidFill>
                <a:latin typeface="Courier New"/>
                <a:cs typeface="Courier New"/>
              </a:rPr>
              <a:t>GE</a:t>
            </a:r>
            <a:r>
              <a:rPr lang="en-US" altLang="zh-CN" sz="1400" b="1" spc="-50" dirty="0">
                <a:solidFill>
                  <a:srgbClr val="FABE24"/>
                </a:solidFill>
                <a:latin typeface="Courier New"/>
                <a:cs typeface="Courier New"/>
              </a:rPr>
              <a:t>T </a:t>
            </a:r>
            <a:r>
              <a:rPr lang="en-US" altLang="zh-CN" sz="1400" dirty="0">
                <a:solidFill>
                  <a:schemeClr val="bg1"/>
                </a:solidFill>
              </a:rPr>
              <a:t>/</a:t>
            </a:r>
            <a:r>
              <a:rPr lang="en-US" altLang="zh-CN" sz="1400" dirty="0" err="1">
                <a:solidFill>
                  <a:schemeClr val="bg1"/>
                </a:solidFill>
              </a:rPr>
              <a:t>api</a:t>
            </a:r>
            <a:r>
              <a:rPr lang="en-US" altLang="zh-CN" sz="1400" dirty="0">
                <a:solidFill>
                  <a:schemeClr val="bg1"/>
                </a:solidFill>
              </a:rPr>
              <a:t>/races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A7C23DD-ECCF-A7E2-A14F-1A992BBF745D}"/>
              </a:ext>
            </a:extLst>
          </p:cNvPr>
          <p:cNvSpPr txBox="1"/>
          <p:nvPr/>
        </p:nvSpPr>
        <p:spPr>
          <a:xfrm>
            <a:off x="6651646" y="2310357"/>
            <a:ext cx="2409825" cy="307777"/>
          </a:xfrm>
          <a:prstGeom prst="rect">
            <a:avLst/>
          </a:prstGeom>
          <a:solidFill>
            <a:srgbClr val="272628"/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spc="-25" dirty="0">
                <a:solidFill>
                  <a:srgbClr val="FABE24"/>
                </a:solidFill>
                <a:latin typeface="Courier New"/>
                <a:cs typeface="Courier New"/>
              </a:rPr>
              <a:t>GE</a:t>
            </a:r>
            <a:r>
              <a:rPr lang="en-US" altLang="zh-CN" sz="1400" b="1" spc="-50" dirty="0">
                <a:solidFill>
                  <a:srgbClr val="FABE24"/>
                </a:solidFill>
                <a:latin typeface="Courier New"/>
                <a:cs typeface="Courier New"/>
              </a:rPr>
              <a:t>T </a:t>
            </a:r>
            <a:r>
              <a:rPr lang="en-US" altLang="zh-CN" sz="1400" dirty="0">
                <a:solidFill>
                  <a:schemeClr val="bg1"/>
                </a:solidFill>
              </a:rPr>
              <a:t>/</a:t>
            </a:r>
            <a:r>
              <a:rPr lang="en-US" altLang="zh-CN" sz="1400" dirty="0" err="1">
                <a:solidFill>
                  <a:schemeClr val="bg1"/>
                </a:solidFill>
              </a:rPr>
              <a:t>api</a:t>
            </a:r>
            <a:r>
              <a:rPr lang="en-US" altLang="zh-CN" sz="1400" dirty="0">
                <a:solidFill>
                  <a:schemeClr val="bg1"/>
                </a:solidFill>
              </a:rPr>
              <a:t>/races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43DA8EB-3E8D-B28C-E49D-FE9080C521B4}"/>
              </a:ext>
            </a:extLst>
          </p:cNvPr>
          <p:cNvSpPr txBox="1"/>
          <p:nvPr/>
        </p:nvSpPr>
        <p:spPr>
          <a:xfrm>
            <a:off x="6651644" y="2310356"/>
            <a:ext cx="3266442" cy="307777"/>
          </a:xfrm>
          <a:prstGeom prst="rect">
            <a:avLst/>
          </a:prstGeom>
          <a:solidFill>
            <a:srgbClr val="272628"/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spc="-25" dirty="0">
                <a:solidFill>
                  <a:srgbClr val="FABE24"/>
                </a:solidFill>
                <a:latin typeface="Courier New"/>
                <a:cs typeface="Courier New"/>
              </a:rPr>
              <a:t>GE</a:t>
            </a:r>
            <a:r>
              <a:rPr lang="en-US" altLang="zh-CN" sz="1400" b="1" spc="-50" dirty="0">
                <a:solidFill>
                  <a:srgbClr val="FABE24"/>
                </a:solidFill>
                <a:latin typeface="Courier New"/>
                <a:cs typeface="Courier New"/>
              </a:rPr>
              <a:t>T </a:t>
            </a:r>
            <a:r>
              <a:rPr lang="en-US" altLang="zh-CN" sz="1400" dirty="0">
                <a:solidFill>
                  <a:schemeClr val="bg1"/>
                </a:solidFill>
              </a:rPr>
              <a:t>/</a:t>
            </a:r>
            <a:r>
              <a:rPr lang="en-US" altLang="zh-CN" sz="1400" dirty="0" err="1">
                <a:solidFill>
                  <a:schemeClr val="bg1"/>
                </a:solidFill>
              </a:rPr>
              <a:t>api</a:t>
            </a:r>
            <a:r>
              <a:rPr lang="en-US" altLang="zh-CN" sz="1400" dirty="0">
                <a:solidFill>
                  <a:schemeClr val="bg1"/>
                </a:solidFill>
              </a:rPr>
              <a:t>/editions/races/&lt;</a:t>
            </a:r>
            <a:r>
              <a:rPr lang="en-US" altLang="zh-CN" sz="1400" dirty="0" err="1">
                <a:solidFill>
                  <a:schemeClr val="bg1"/>
                </a:solidFill>
              </a:rPr>
              <a:t>race_id</a:t>
            </a:r>
            <a:r>
              <a:rPr lang="en-US" altLang="zh-CN" sz="1400" dirty="0">
                <a:solidFill>
                  <a:schemeClr val="bg1"/>
                </a:solidFill>
              </a:rPr>
              <a:t>&gt;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F8A1033-6686-D019-A6EB-A56DB6774731}"/>
              </a:ext>
            </a:extLst>
          </p:cNvPr>
          <p:cNvSpPr txBox="1"/>
          <p:nvPr/>
        </p:nvSpPr>
        <p:spPr>
          <a:xfrm>
            <a:off x="6651644" y="2836319"/>
            <a:ext cx="2667002" cy="307777"/>
          </a:xfrm>
          <a:prstGeom prst="rect">
            <a:avLst/>
          </a:prstGeom>
          <a:solidFill>
            <a:srgbClr val="272628"/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spc="-25" dirty="0">
                <a:solidFill>
                  <a:srgbClr val="FABE24"/>
                </a:solidFill>
                <a:latin typeface="Courier New"/>
                <a:cs typeface="Courier New"/>
              </a:rPr>
              <a:t>GE</a:t>
            </a:r>
            <a:r>
              <a:rPr lang="en-US" altLang="zh-CN" sz="1400" b="1" spc="-50" dirty="0">
                <a:solidFill>
                  <a:srgbClr val="FABE24"/>
                </a:solidFill>
                <a:latin typeface="Courier New"/>
                <a:cs typeface="Courier New"/>
              </a:rPr>
              <a:t>T </a:t>
            </a:r>
            <a:r>
              <a:rPr lang="en-US" altLang="zh-CN" sz="1400" dirty="0">
                <a:solidFill>
                  <a:schemeClr val="bg1"/>
                </a:solidFill>
              </a:rPr>
              <a:t>/</a:t>
            </a:r>
            <a:r>
              <a:rPr lang="en-US" altLang="zh-CN" sz="1400" dirty="0" err="1">
                <a:solidFill>
                  <a:schemeClr val="bg1"/>
                </a:solidFill>
              </a:rPr>
              <a:t>api</a:t>
            </a:r>
            <a:r>
              <a:rPr lang="en-US" altLang="zh-CN" sz="1400" dirty="0">
                <a:solidFill>
                  <a:schemeClr val="bg1"/>
                </a:solidFill>
              </a:rPr>
              <a:t>/stages/&lt;</a:t>
            </a:r>
            <a:r>
              <a:rPr lang="en-US" altLang="zh-CN" sz="1400" dirty="0" err="1">
                <a:solidFill>
                  <a:schemeClr val="bg1"/>
                </a:solidFill>
              </a:rPr>
              <a:t>edition_id</a:t>
            </a:r>
            <a:r>
              <a:rPr lang="en-US" altLang="zh-CN" sz="1400" dirty="0">
                <a:solidFill>
                  <a:schemeClr val="bg1"/>
                </a:solidFill>
              </a:rPr>
              <a:t>&gt;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8747683-7DC3-0844-5890-21041CC60244}"/>
              </a:ext>
            </a:extLst>
          </p:cNvPr>
          <p:cNvSpPr txBox="1"/>
          <p:nvPr/>
        </p:nvSpPr>
        <p:spPr>
          <a:xfrm>
            <a:off x="6651643" y="3375131"/>
            <a:ext cx="2409825" cy="307777"/>
          </a:xfrm>
          <a:prstGeom prst="rect">
            <a:avLst/>
          </a:prstGeom>
          <a:solidFill>
            <a:srgbClr val="272628"/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spc="-25" dirty="0">
                <a:solidFill>
                  <a:srgbClr val="FABE24"/>
                </a:solidFill>
                <a:latin typeface="Courier New"/>
                <a:cs typeface="Courier New"/>
              </a:rPr>
              <a:t>GE</a:t>
            </a:r>
            <a:r>
              <a:rPr lang="en-US" altLang="zh-CN" sz="1400" b="1" spc="-50" dirty="0">
                <a:solidFill>
                  <a:srgbClr val="FABE24"/>
                </a:solidFill>
                <a:latin typeface="Courier New"/>
                <a:cs typeface="Courier New"/>
              </a:rPr>
              <a:t>T </a:t>
            </a:r>
            <a:r>
              <a:rPr lang="en-US" altLang="zh-CN" sz="1400" dirty="0">
                <a:solidFill>
                  <a:schemeClr val="bg1"/>
                </a:solidFill>
              </a:rPr>
              <a:t>/</a:t>
            </a:r>
            <a:r>
              <a:rPr lang="en-US" altLang="zh-CN" sz="1400" dirty="0" err="1">
                <a:solidFill>
                  <a:schemeClr val="bg1"/>
                </a:solidFill>
              </a:rPr>
              <a:t>api</a:t>
            </a:r>
            <a:r>
              <a:rPr lang="en-US" altLang="zh-CN" sz="1400" dirty="0">
                <a:solidFill>
                  <a:schemeClr val="bg1"/>
                </a:solidFill>
              </a:rPr>
              <a:t>/results/&lt;</a:t>
            </a:r>
            <a:r>
              <a:rPr lang="en-US" altLang="zh-CN" sz="1400" dirty="0" err="1">
                <a:solidFill>
                  <a:schemeClr val="bg1"/>
                </a:solidFill>
              </a:rPr>
              <a:t>stage_id</a:t>
            </a:r>
            <a:r>
              <a:rPr lang="en-US" altLang="zh-CN" sz="1400" dirty="0">
                <a:solidFill>
                  <a:schemeClr val="bg1"/>
                </a:solidFill>
              </a:rPr>
              <a:t>&gt;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pic>
        <p:nvPicPr>
          <p:cNvPr id="32" name="object 4">
            <a:extLst>
              <a:ext uri="{FF2B5EF4-FFF2-40B4-BE49-F238E27FC236}">
                <a16:creationId xmlns:a16="http://schemas.microsoft.com/office/drawing/2014/main" id="{AE6A4E9C-B563-330D-E9C4-794A1561EAB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18188" y="3886200"/>
            <a:ext cx="5083919" cy="390524"/>
          </a:xfrm>
          <a:prstGeom prst="rect">
            <a:avLst/>
          </a:prstGeom>
        </p:spPr>
      </p:pic>
      <p:pic>
        <p:nvPicPr>
          <p:cNvPr id="33" name="object 5">
            <a:extLst>
              <a:ext uri="{FF2B5EF4-FFF2-40B4-BE49-F238E27FC236}">
                <a16:creationId xmlns:a16="http://schemas.microsoft.com/office/drawing/2014/main" id="{B513502E-A701-E342-5809-5F700F594DDD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18188" y="4419600"/>
            <a:ext cx="5083919" cy="390524"/>
          </a:xfrm>
          <a:prstGeom prst="rect">
            <a:avLst/>
          </a:prstGeom>
        </p:spPr>
      </p:pic>
      <p:pic>
        <p:nvPicPr>
          <p:cNvPr id="34" name="object 6">
            <a:extLst>
              <a:ext uri="{FF2B5EF4-FFF2-40B4-BE49-F238E27FC236}">
                <a16:creationId xmlns:a16="http://schemas.microsoft.com/office/drawing/2014/main" id="{162F3D0A-55C0-B0CD-3ECA-E4A1883AF0CC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18188" y="4953000"/>
            <a:ext cx="5083919" cy="390524"/>
          </a:xfrm>
          <a:prstGeom prst="rect">
            <a:avLst/>
          </a:prstGeom>
        </p:spPr>
      </p:pic>
      <p:pic>
        <p:nvPicPr>
          <p:cNvPr id="35" name="object 7">
            <a:extLst>
              <a:ext uri="{FF2B5EF4-FFF2-40B4-BE49-F238E27FC236}">
                <a16:creationId xmlns:a16="http://schemas.microsoft.com/office/drawing/2014/main" id="{308330E7-FFEC-7094-0F2A-8C1FFF0E0055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18188" y="5486400"/>
            <a:ext cx="5099466" cy="390524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7EFBBD67-5B50-EE76-EFC8-CFBA6C9DFA57}"/>
              </a:ext>
            </a:extLst>
          </p:cNvPr>
          <p:cNvSpPr txBox="1"/>
          <p:nvPr/>
        </p:nvSpPr>
        <p:spPr>
          <a:xfrm>
            <a:off x="6651645" y="3960907"/>
            <a:ext cx="2409825" cy="307777"/>
          </a:xfrm>
          <a:prstGeom prst="rect">
            <a:avLst/>
          </a:prstGeom>
          <a:solidFill>
            <a:srgbClr val="272628"/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spc="-25" dirty="0">
                <a:solidFill>
                  <a:srgbClr val="FABE24"/>
                </a:solidFill>
                <a:latin typeface="Courier New"/>
                <a:cs typeface="Courier New"/>
              </a:rPr>
              <a:t>GE</a:t>
            </a:r>
            <a:r>
              <a:rPr lang="en-US" altLang="zh-CN" sz="1400" b="1" spc="-50" dirty="0">
                <a:solidFill>
                  <a:srgbClr val="FABE24"/>
                </a:solidFill>
                <a:latin typeface="Courier New"/>
                <a:cs typeface="Courier New"/>
              </a:rPr>
              <a:t>T </a:t>
            </a:r>
            <a:r>
              <a:rPr lang="en-US" altLang="zh-CN" sz="1400" dirty="0">
                <a:solidFill>
                  <a:schemeClr val="bg1"/>
                </a:solidFill>
              </a:rPr>
              <a:t>/</a:t>
            </a:r>
            <a:r>
              <a:rPr lang="en-US" altLang="zh-CN" sz="1400" dirty="0" err="1">
                <a:solidFill>
                  <a:schemeClr val="bg1"/>
                </a:solidFill>
              </a:rPr>
              <a:t>api</a:t>
            </a:r>
            <a:r>
              <a:rPr lang="en-US" altLang="zh-CN" sz="1400" dirty="0">
                <a:solidFill>
                  <a:schemeClr val="bg1"/>
                </a:solidFill>
              </a:rPr>
              <a:t>/riders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3D26A78-FD92-5E1E-09F0-D97C36D56406}"/>
              </a:ext>
            </a:extLst>
          </p:cNvPr>
          <p:cNvSpPr txBox="1"/>
          <p:nvPr/>
        </p:nvSpPr>
        <p:spPr>
          <a:xfrm>
            <a:off x="6651644" y="4501744"/>
            <a:ext cx="3266442" cy="307777"/>
          </a:xfrm>
          <a:prstGeom prst="rect">
            <a:avLst/>
          </a:prstGeom>
          <a:solidFill>
            <a:srgbClr val="272628"/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spc="-25" dirty="0">
                <a:solidFill>
                  <a:srgbClr val="FABE24"/>
                </a:solidFill>
                <a:latin typeface="Courier New"/>
                <a:cs typeface="Courier New"/>
              </a:rPr>
              <a:t>GE</a:t>
            </a:r>
            <a:r>
              <a:rPr lang="en-US" altLang="zh-CN" sz="1400" b="1" spc="-50" dirty="0">
                <a:solidFill>
                  <a:srgbClr val="FABE24"/>
                </a:solidFill>
                <a:latin typeface="Courier New"/>
                <a:cs typeface="Courier New"/>
              </a:rPr>
              <a:t>T </a:t>
            </a:r>
            <a:r>
              <a:rPr lang="en-US" altLang="zh-CN" sz="1400" dirty="0">
                <a:solidFill>
                  <a:schemeClr val="bg1"/>
                </a:solidFill>
              </a:rPr>
              <a:t>/</a:t>
            </a:r>
            <a:r>
              <a:rPr lang="en-US" altLang="zh-CN" sz="1400" dirty="0" err="1">
                <a:solidFill>
                  <a:schemeClr val="bg1"/>
                </a:solidFill>
              </a:rPr>
              <a:t>api</a:t>
            </a:r>
            <a:r>
              <a:rPr lang="en-US" altLang="zh-CN" sz="1400" dirty="0">
                <a:solidFill>
                  <a:schemeClr val="bg1"/>
                </a:solidFill>
              </a:rPr>
              <a:t>/riders/&lt;</a:t>
            </a:r>
            <a:r>
              <a:rPr lang="en-US" altLang="zh-CN" sz="1400" dirty="0" err="1">
                <a:solidFill>
                  <a:schemeClr val="bg1"/>
                </a:solidFill>
              </a:rPr>
              <a:t>rider_id</a:t>
            </a:r>
            <a:r>
              <a:rPr lang="en-US" altLang="zh-CN" sz="1400" dirty="0">
                <a:solidFill>
                  <a:schemeClr val="bg1"/>
                </a:solidFill>
              </a:rPr>
              <a:t>&gt;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3C07F2B-4105-5106-4304-03F9CA855965}"/>
              </a:ext>
            </a:extLst>
          </p:cNvPr>
          <p:cNvSpPr txBox="1"/>
          <p:nvPr/>
        </p:nvSpPr>
        <p:spPr>
          <a:xfrm>
            <a:off x="6651644" y="5027707"/>
            <a:ext cx="2895602" cy="307777"/>
          </a:xfrm>
          <a:prstGeom prst="rect">
            <a:avLst/>
          </a:prstGeom>
          <a:solidFill>
            <a:srgbClr val="272628"/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spc="-25" dirty="0">
                <a:solidFill>
                  <a:srgbClr val="FABE24"/>
                </a:solidFill>
                <a:latin typeface="Courier New"/>
                <a:cs typeface="Courier New"/>
              </a:rPr>
              <a:t>GE</a:t>
            </a:r>
            <a:r>
              <a:rPr lang="en-US" altLang="zh-CN" sz="1400" b="1" spc="-50" dirty="0">
                <a:solidFill>
                  <a:srgbClr val="FABE24"/>
                </a:solidFill>
                <a:latin typeface="Courier New"/>
                <a:cs typeface="Courier New"/>
              </a:rPr>
              <a:t>T </a:t>
            </a:r>
            <a:r>
              <a:rPr lang="en-US" altLang="zh-CN" sz="1400" dirty="0">
                <a:solidFill>
                  <a:schemeClr val="bg1"/>
                </a:solidFill>
              </a:rPr>
              <a:t>/</a:t>
            </a:r>
            <a:r>
              <a:rPr lang="en-US" altLang="zh-CN" sz="1400" dirty="0" err="1">
                <a:solidFill>
                  <a:schemeClr val="bg1"/>
                </a:solidFill>
              </a:rPr>
              <a:t>api</a:t>
            </a:r>
            <a:r>
              <a:rPr lang="en-US" altLang="zh-CN" sz="1400" dirty="0">
                <a:solidFill>
                  <a:schemeClr val="bg1"/>
                </a:solidFill>
              </a:rPr>
              <a:t>/riders/&lt;</a:t>
            </a:r>
            <a:r>
              <a:rPr lang="en-US" altLang="zh-CN" sz="1400" dirty="0" err="1">
                <a:solidFill>
                  <a:schemeClr val="bg1"/>
                </a:solidFill>
              </a:rPr>
              <a:t>rider_id</a:t>
            </a:r>
            <a:r>
              <a:rPr lang="en-US" altLang="zh-CN" sz="1400" dirty="0">
                <a:solidFill>
                  <a:schemeClr val="bg1"/>
                </a:solidFill>
              </a:rPr>
              <a:t>&gt;/races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E214BB0-26CD-7110-DE19-B3E236D5B5E6}"/>
              </a:ext>
            </a:extLst>
          </p:cNvPr>
          <p:cNvSpPr txBox="1"/>
          <p:nvPr/>
        </p:nvSpPr>
        <p:spPr>
          <a:xfrm>
            <a:off x="6651643" y="5566519"/>
            <a:ext cx="2667003" cy="307777"/>
          </a:xfrm>
          <a:prstGeom prst="rect">
            <a:avLst/>
          </a:prstGeom>
          <a:solidFill>
            <a:srgbClr val="272628"/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spc="-25" dirty="0">
                <a:solidFill>
                  <a:srgbClr val="FABE24"/>
                </a:solidFill>
                <a:latin typeface="Courier New"/>
                <a:cs typeface="Courier New"/>
              </a:rPr>
              <a:t>GE</a:t>
            </a:r>
            <a:r>
              <a:rPr lang="en-US" altLang="zh-CN" sz="1400" b="1" spc="-50" dirty="0">
                <a:solidFill>
                  <a:srgbClr val="FABE24"/>
                </a:solidFill>
                <a:latin typeface="Courier New"/>
                <a:cs typeface="Courier New"/>
              </a:rPr>
              <a:t>T </a:t>
            </a:r>
            <a:r>
              <a:rPr lang="en-US" altLang="zh-CN" sz="1400" dirty="0">
                <a:solidFill>
                  <a:schemeClr val="bg1"/>
                </a:solidFill>
              </a:rPr>
              <a:t>/</a:t>
            </a:r>
            <a:r>
              <a:rPr lang="en-US" altLang="zh-CN" sz="1400" dirty="0" err="1">
                <a:solidFill>
                  <a:schemeClr val="bg1"/>
                </a:solidFill>
              </a:rPr>
              <a:t>api</a:t>
            </a:r>
            <a:r>
              <a:rPr lang="en-US" altLang="zh-CN" sz="1400" dirty="0">
                <a:solidFill>
                  <a:schemeClr val="bg1"/>
                </a:solidFill>
              </a:rPr>
              <a:t>/riders/&lt;</a:t>
            </a:r>
            <a:r>
              <a:rPr lang="en-US" altLang="zh-CN" sz="1400" dirty="0" err="1">
                <a:solidFill>
                  <a:schemeClr val="bg1"/>
                </a:solidFill>
              </a:rPr>
              <a:t>rider_id</a:t>
            </a:r>
            <a:r>
              <a:rPr lang="en-US" altLang="zh-CN" sz="1400" dirty="0">
                <a:solidFill>
                  <a:schemeClr val="bg1"/>
                </a:solidFill>
              </a:rPr>
              <a:t>&gt;/wins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93BA753-E424-13AA-27C2-6F92191E7282}"/>
              </a:ext>
            </a:extLst>
          </p:cNvPr>
          <p:cNvSpPr txBox="1"/>
          <p:nvPr/>
        </p:nvSpPr>
        <p:spPr>
          <a:xfrm>
            <a:off x="9638665" y="1784977"/>
            <a:ext cx="162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34245"/>
                </a:solidFill>
              </a:rPr>
              <a:t>获取所有赛事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7B0F99B-8A2B-F1D3-832D-FB2293E7DC63}"/>
              </a:ext>
            </a:extLst>
          </p:cNvPr>
          <p:cNvSpPr txBox="1"/>
          <p:nvPr/>
        </p:nvSpPr>
        <p:spPr>
          <a:xfrm>
            <a:off x="9620271" y="2306468"/>
            <a:ext cx="1981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34245"/>
                </a:solidFill>
              </a:rPr>
              <a:t>获取某赛事的所有届数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7490726-7F6F-2D67-74FE-2816BEDAD54D}"/>
              </a:ext>
            </a:extLst>
          </p:cNvPr>
          <p:cNvSpPr txBox="1"/>
          <p:nvPr/>
        </p:nvSpPr>
        <p:spPr>
          <a:xfrm>
            <a:off x="9620271" y="2836319"/>
            <a:ext cx="1981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34245"/>
                </a:solidFill>
              </a:rPr>
              <a:t>获取某赛事的所有赛段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2875278-DC34-A09B-9DE0-0C2EC77C3D1D}"/>
              </a:ext>
            </a:extLst>
          </p:cNvPr>
          <p:cNvSpPr txBox="1"/>
          <p:nvPr/>
        </p:nvSpPr>
        <p:spPr>
          <a:xfrm>
            <a:off x="9635818" y="3404484"/>
            <a:ext cx="1981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34245"/>
                </a:solidFill>
              </a:rPr>
              <a:t>获取某赛段的所有成绩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D7E98923-0FB4-EC51-B0E4-C5425B8FA432}"/>
              </a:ext>
            </a:extLst>
          </p:cNvPr>
          <p:cNvSpPr txBox="1"/>
          <p:nvPr/>
        </p:nvSpPr>
        <p:spPr>
          <a:xfrm>
            <a:off x="9620271" y="3939705"/>
            <a:ext cx="1981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34245"/>
                </a:solidFill>
              </a:rPr>
              <a:t>获取所有车手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8A57E93-5ED9-70CC-2117-9F91DB2E92EF}"/>
              </a:ext>
            </a:extLst>
          </p:cNvPr>
          <p:cNvSpPr txBox="1"/>
          <p:nvPr/>
        </p:nvSpPr>
        <p:spPr>
          <a:xfrm>
            <a:off x="9628045" y="4460973"/>
            <a:ext cx="1981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34245"/>
                </a:solidFill>
              </a:rPr>
              <a:t>获取车手详细信息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8F7E6CD-1A7F-DBC5-03BD-3DCD74D21CFC}"/>
              </a:ext>
            </a:extLst>
          </p:cNvPr>
          <p:cNvSpPr txBox="1"/>
          <p:nvPr/>
        </p:nvSpPr>
        <p:spPr>
          <a:xfrm>
            <a:off x="9620271" y="4982241"/>
            <a:ext cx="1981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34245"/>
                </a:solidFill>
              </a:rPr>
              <a:t>获取获取车手参赛记录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5A54F12-56FB-2863-EFBB-70A24ED1DA06}"/>
              </a:ext>
            </a:extLst>
          </p:cNvPr>
          <p:cNvSpPr txBox="1"/>
          <p:nvPr/>
        </p:nvSpPr>
        <p:spPr>
          <a:xfrm>
            <a:off x="9635818" y="5517462"/>
            <a:ext cx="1981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34245"/>
                </a:solidFill>
              </a:rPr>
              <a:t>获取车手冠军记录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1830584"/>
            <a:ext cx="3524249" cy="449401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33875" y="1830584"/>
            <a:ext cx="3524249" cy="449401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96250" y="1830584"/>
            <a:ext cx="4019550" cy="449401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8200" y="5105400"/>
            <a:ext cx="2921000" cy="984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10" dirty="0">
                <a:solidFill>
                  <a:srgbClr val="F7FAFC"/>
                </a:solidFill>
                <a:latin typeface="Microsoft JhengHei"/>
                <a:cs typeface="Microsoft JhengHei"/>
              </a:rPr>
              <a:t>实⼒可视化</a:t>
            </a:r>
            <a:endParaRPr sz="2100" dirty="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150"/>
              </a:spcBef>
            </a:pPr>
            <a:r>
              <a:rPr sz="1200" spc="-5" dirty="0">
                <a:solidFill>
                  <a:srgbClr val="CBD4E1"/>
                </a:solidFill>
                <a:latin typeface="Microsoft JhengHei"/>
                <a:cs typeface="Microsoft JhengHei"/>
              </a:rPr>
              <a:t>基于历史成绩，利⽤雷达图多维展⽰⻋⼿的</a:t>
            </a:r>
            <a:endParaRPr sz="1200" dirty="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</a:pPr>
            <a:r>
              <a:rPr sz="1200" b="1" spc="-5" dirty="0">
                <a:solidFill>
                  <a:srgbClr val="CBD4E1"/>
                </a:solidFill>
                <a:latin typeface="Microsoft JhengHei"/>
                <a:cs typeface="Microsoft JhengHei"/>
              </a:rPr>
              <a:t>冲刺、爬坡、计时赛及 </a:t>
            </a:r>
            <a:r>
              <a:rPr sz="1200" b="1" spc="-30" dirty="0">
                <a:solidFill>
                  <a:srgbClr val="CBD4E1"/>
                </a:solidFill>
                <a:latin typeface="Microsoft JhengHei"/>
                <a:cs typeface="Microsoft JhengHei"/>
              </a:rPr>
              <a:t>GC</a:t>
            </a:r>
            <a:r>
              <a:rPr sz="1200" b="1" spc="-15" dirty="0">
                <a:solidFill>
                  <a:srgbClr val="CBD4E1"/>
                </a:solidFill>
                <a:latin typeface="Microsoft JhengHei"/>
                <a:cs typeface="Microsoft JhengHei"/>
              </a:rPr>
              <a:t> 能⼒</a:t>
            </a:r>
            <a:r>
              <a:rPr sz="1200" spc="-20" dirty="0">
                <a:solidFill>
                  <a:srgbClr val="CBD4E1"/>
                </a:solidFill>
                <a:latin typeface="Microsoft JhengHei"/>
                <a:cs typeface="Microsoft JhengHei"/>
              </a:rPr>
              <a:t>指标。</a:t>
            </a:r>
            <a:endParaRPr sz="1200" dirty="0">
              <a:latin typeface="Microsoft JhengHei"/>
              <a:cs typeface="Microsoft JhengHe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6450" y="5105400"/>
            <a:ext cx="2924810" cy="11721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10" dirty="0">
                <a:solidFill>
                  <a:srgbClr val="F7FAFC"/>
                </a:solidFill>
                <a:latin typeface="Microsoft JhengHei"/>
                <a:cs typeface="Microsoft JhengHei"/>
              </a:rPr>
              <a:t>⻋⼿实⼒⽐拼</a:t>
            </a:r>
            <a:endParaRPr sz="2100" dirty="0">
              <a:latin typeface="Microsoft JhengHei"/>
              <a:cs typeface="Microsoft JhengHei"/>
            </a:endParaRPr>
          </a:p>
          <a:p>
            <a:pPr marL="12700" marR="5080" algn="just">
              <a:lnSpc>
                <a:spcPct val="100000"/>
              </a:lnSpc>
              <a:spcBef>
                <a:spcPts val="2150"/>
              </a:spcBef>
            </a:pPr>
            <a:r>
              <a:rPr sz="1200" spc="-5" dirty="0" err="1">
                <a:solidFill>
                  <a:srgbClr val="CBD4E1"/>
                </a:solidFill>
                <a:latin typeface="Microsoft JhengHei"/>
                <a:cs typeface="Microsoft JhengHei"/>
              </a:rPr>
              <a:t>开发</a:t>
            </a:r>
            <a:r>
              <a:rPr sz="1200" spc="-5" dirty="0">
                <a:solidFill>
                  <a:srgbClr val="CBD4E1"/>
                </a:solidFill>
                <a:latin typeface="Microsoft JhengHei"/>
                <a:cs typeface="Microsoft JhengHei"/>
              </a:rPr>
              <a:t> "</a:t>
            </a:r>
            <a:r>
              <a:rPr lang="zh-CN" altLang="en-US" sz="1200" spc="-10" dirty="0">
                <a:solidFill>
                  <a:srgbClr val="CBD4E1"/>
                </a:solidFill>
                <a:latin typeface="Microsoft JhengHei"/>
                <a:cs typeface="Microsoft JhengHei"/>
              </a:rPr>
              <a:t>车手对比</a:t>
            </a:r>
            <a:r>
              <a:rPr sz="1200" spc="-25" dirty="0">
                <a:solidFill>
                  <a:srgbClr val="CBD4E1"/>
                </a:solidFill>
                <a:latin typeface="Microsoft JhengHei"/>
                <a:cs typeface="Microsoft JhengHei"/>
              </a:rPr>
              <a:t>"</a:t>
            </a:r>
            <a:r>
              <a:rPr lang="zh-CN" altLang="en-US" sz="1200" spc="-25" dirty="0">
                <a:solidFill>
                  <a:srgbClr val="CBD4E1"/>
                </a:solidFill>
                <a:latin typeface="Microsoft JhengHei"/>
                <a:cs typeface="Microsoft JhengHei"/>
              </a:rPr>
              <a:t>功能</a:t>
            </a:r>
            <a:r>
              <a:rPr sz="1200" spc="-25" dirty="0">
                <a:solidFill>
                  <a:srgbClr val="CBD4E1"/>
                </a:solidFill>
                <a:latin typeface="Microsoft JhengHei"/>
                <a:cs typeface="Microsoft JhengHei"/>
              </a:rPr>
              <a:t>，</a:t>
            </a:r>
            <a:r>
              <a:rPr sz="1200" spc="-35" dirty="0">
                <a:solidFill>
                  <a:srgbClr val="CBD4E1"/>
                </a:solidFill>
                <a:latin typeface="Microsoft JhengHei"/>
                <a:cs typeface="Microsoft JhengHei"/>
              </a:rPr>
              <a:t>允许⽤⼾选择两名或</a:t>
            </a:r>
            <a:r>
              <a:rPr sz="1200" spc="-5" dirty="0">
                <a:solidFill>
                  <a:srgbClr val="CBD4E1"/>
                </a:solidFill>
                <a:latin typeface="Microsoft JhengHei"/>
                <a:cs typeface="Microsoft JhengHei"/>
              </a:rPr>
              <a:t>多名⻋⼿，直观对⽐其职业⽣涯数据与各项</a:t>
            </a:r>
            <a:r>
              <a:rPr sz="1200" spc="-15" dirty="0">
                <a:solidFill>
                  <a:srgbClr val="CBD4E1"/>
                </a:solidFill>
                <a:latin typeface="Microsoft JhengHei"/>
                <a:cs typeface="Microsoft JhengHei"/>
              </a:rPr>
              <a:t>能⼒值。</a:t>
            </a:r>
            <a:endParaRPr sz="1200" dirty="0">
              <a:latin typeface="Microsoft JhengHei"/>
              <a:cs typeface="Microsoft JhengHe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02625" y="5105400"/>
            <a:ext cx="3051175" cy="984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10" dirty="0">
                <a:solidFill>
                  <a:srgbClr val="F7FAFC"/>
                </a:solidFill>
                <a:latin typeface="Microsoft JhengHei"/>
                <a:cs typeface="Microsoft JhengHei"/>
              </a:rPr>
              <a:t>社区论坛功能</a:t>
            </a:r>
            <a:endParaRPr sz="2100" dirty="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150"/>
              </a:spcBef>
            </a:pPr>
            <a:r>
              <a:rPr sz="1200" spc="-5" dirty="0">
                <a:solidFill>
                  <a:srgbClr val="CBD4E1"/>
                </a:solidFill>
                <a:latin typeface="Microsoft JhengHei"/>
                <a:cs typeface="Microsoft JhengHei"/>
              </a:rPr>
              <a:t>打造⻋迷交流区，⽀</a:t>
            </a:r>
            <a:r>
              <a:rPr sz="1200" spc="-5" dirty="0" err="1">
                <a:solidFill>
                  <a:srgbClr val="CBD4E1"/>
                </a:solidFill>
                <a:latin typeface="Microsoft JhengHei"/>
                <a:cs typeface="Microsoft JhengHei"/>
              </a:rPr>
              <a:t>持发帖讨论、赛段评论，以及</a:t>
            </a:r>
            <a:r>
              <a:rPr sz="1200" spc="-5" dirty="0">
                <a:solidFill>
                  <a:srgbClr val="CBD4E1"/>
                </a:solidFill>
                <a:latin typeface="Microsoft JhengHei"/>
                <a:cs typeface="Microsoft JhengHei"/>
              </a:rPr>
              <a:t>⽤⼾对⻋⼿实⼒的打分与评价体系。</a:t>
            </a:r>
            <a:endParaRPr sz="1200" dirty="0">
              <a:latin typeface="Microsoft JhengHei"/>
              <a:cs typeface="Microsoft JhengHei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558800" y="872363"/>
            <a:ext cx="311023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>
                <a:solidFill>
                  <a:srgbClr val="F7FAFC"/>
                </a:solidFill>
              </a:rPr>
              <a:t>未来 </a:t>
            </a:r>
            <a:r>
              <a:rPr spc="-15" dirty="0">
                <a:solidFill>
                  <a:srgbClr val="EE4444"/>
                </a:solidFill>
              </a:rPr>
              <a:t>开发规划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DA2B35D-244D-0B87-9056-7439808BDCF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99" y="1981199"/>
            <a:ext cx="2734553" cy="288988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6A2C842-4D62-3E93-AB31-BF4A828D0A9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8919" y="2006226"/>
            <a:ext cx="3094160" cy="286462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4E8AE3ED-672C-5DF5-A4B0-530E95AE9C5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1981199"/>
            <a:ext cx="3754120" cy="25146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: 空心 2"/>
          <p:cNvSpPr/>
          <p:nvPr/>
        </p:nvSpPr>
        <p:spPr>
          <a:xfrm>
            <a:off x="4762500" y="2095500"/>
            <a:ext cx="2667000" cy="2667000"/>
          </a:xfrm>
          <a:prstGeom prst="donut">
            <a:avLst>
              <a:gd name="adj" fmla="val 7681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3" name="Oval 3"/>
          <p:cNvSpPr>
            <a:spLocks noChangeAspect="1"/>
          </p:cNvSpPr>
          <p:nvPr/>
        </p:nvSpPr>
        <p:spPr>
          <a:xfrm>
            <a:off x="5898057" y="1897500"/>
            <a:ext cx="431886" cy="432000"/>
          </a:xfrm>
          <a:custGeom>
            <a:avLst/>
            <a:gdLst>
              <a:gd name="T0" fmla="*/ 3779 w 7964"/>
              <a:gd name="T1" fmla="*/ 2906 h 7964"/>
              <a:gd name="T2" fmla="*/ 2906 w 7964"/>
              <a:gd name="T3" fmla="*/ 3779 h 7964"/>
              <a:gd name="T4" fmla="*/ 3779 w 7964"/>
              <a:gd name="T5" fmla="*/ 4651 h 7964"/>
              <a:gd name="T6" fmla="*/ 4651 w 7964"/>
              <a:gd name="T7" fmla="*/ 3779 h 7964"/>
              <a:gd name="T8" fmla="*/ 3779 w 7964"/>
              <a:gd name="T9" fmla="*/ 2906 h 7964"/>
              <a:gd name="T10" fmla="*/ 4198 w 7964"/>
              <a:gd name="T11" fmla="*/ 3444 h 7964"/>
              <a:gd name="T12" fmla="*/ 3779 w 7964"/>
              <a:gd name="T13" fmla="*/ 3242 h 7964"/>
              <a:gd name="T14" fmla="*/ 3339 w 7964"/>
              <a:gd name="T15" fmla="*/ 3470 h 7964"/>
              <a:gd name="T16" fmla="*/ 3229 w 7964"/>
              <a:gd name="T17" fmla="*/ 3394 h 7964"/>
              <a:gd name="T18" fmla="*/ 3779 w 7964"/>
              <a:gd name="T19" fmla="*/ 3107 h 7964"/>
              <a:gd name="T20" fmla="*/ 4303 w 7964"/>
              <a:gd name="T21" fmla="*/ 3360 h 7964"/>
              <a:gd name="T22" fmla="*/ 4198 w 7964"/>
              <a:gd name="T23" fmla="*/ 3444 h 7964"/>
              <a:gd name="T24" fmla="*/ 7651 w 7964"/>
              <a:gd name="T25" fmla="*/ 2432 h 7964"/>
              <a:gd name="T26" fmla="*/ 6798 w 7964"/>
              <a:gd name="T27" fmla="*/ 1166 h 7964"/>
              <a:gd name="T28" fmla="*/ 5532 w 7964"/>
              <a:gd name="T29" fmla="*/ 313 h 7964"/>
              <a:gd name="T30" fmla="*/ 3982 w 7964"/>
              <a:gd name="T31" fmla="*/ 0 h 7964"/>
              <a:gd name="T32" fmla="*/ 2432 w 7964"/>
              <a:gd name="T33" fmla="*/ 313 h 7964"/>
              <a:gd name="T34" fmla="*/ 1166 w 7964"/>
              <a:gd name="T35" fmla="*/ 1166 h 7964"/>
              <a:gd name="T36" fmla="*/ 313 w 7964"/>
              <a:gd name="T37" fmla="*/ 2432 h 7964"/>
              <a:gd name="T38" fmla="*/ 0 w 7964"/>
              <a:gd name="T39" fmla="*/ 3982 h 7964"/>
              <a:gd name="T40" fmla="*/ 313 w 7964"/>
              <a:gd name="T41" fmla="*/ 5532 h 7964"/>
              <a:gd name="T42" fmla="*/ 1166 w 7964"/>
              <a:gd name="T43" fmla="*/ 6798 h 7964"/>
              <a:gd name="T44" fmla="*/ 2432 w 7964"/>
              <a:gd name="T45" fmla="*/ 7651 h 7964"/>
              <a:gd name="T46" fmla="*/ 3982 w 7964"/>
              <a:gd name="T47" fmla="*/ 7964 h 7964"/>
              <a:gd name="T48" fmla="*/ 5532 w 7964"/>
              <a:gd name="T49" fmla="*/ 7651 h 7964"/>
              <a:gd name="T50" fmla="*/ 6798 w 7964"/>
              <a:gd name="T51" fmla="*/ 6798 h 7964"/>
              <a:gd name="T52" fmla="*/ 7651 w 7964"/>
              <a:gd name="T53" fmla="*/ 5532 h 7964"/>
              <a:gd name="T54" fmla="*/ 7964 w 7964"/>
              <a:gd name="T55" fmla="*/ 3982 h 7964"/>
              <a:gd name="T56" fmla="*/ 7651 w 7964"/>
              <a:gd name="T57" fmla="*/ 2432 h 7964"/>
              <a:gd name="T58" fmla="*/ 5292 w 7964"/>
              <a:gd name="T59" fmla="*/ 5141 h 7964"/>
              <a:gd name="T60" fmla="*/ 5161 w 7964"/>
              <a:gd name="T61" fmla="*/ 5289 h 7964"/>
              <a:gd name="T62" fmla="*/ 4960 w 7964"/>
              <a:gd name="T63" fmla="*/ 5285 h 7964"/>
              <a:gd name="T64" fmla="*/ 4423 w 7964"/>
              <a:gd name="T65" fmla="*/ 4739 h 7964"/>
              <a:gd name="T66" fmla="*/ 4414 w 7964"/>
              <a:gd name="T67" fmla="*/ 4726 h 7964"/>
              <a:gd name="T68" fmla="*/ 3779 w 7964"/>
              <a:gd name="T69" fmla="*/ 4920 h 7964"/>
              <a:gd name="T70" fmla="*/ 2637 w 7964"/>
              <a:gd name="T71" fmla="*/ 3779 h 7964"/>
              <a:gd name="T72" fmla="*/ 3779 w 7964"/>
              <a:gd name="T73" fmla="*/ 2638 h 7964"/>
              <a:gd name="T74" fmla="*/ 4920 w 7964"/>
              <a:gd name="T75" fmla="*/ 3779 h 7964"/>
              <a:gd name="T76" fmla="*/ 4734 w 7964"/>
              <a:gd name="T77" fmla="*/ 4402 h 7964"/>
              <a:gd name="T78" fmla="*/ 4740 w 7964"/>
              <a:gd name="T79" fmla="*/ 4406 h 7964"/>
              <a:gd name="T80" fmla="*/ 5281 w 7964"/>
              <a:gd name="T81" fmla="*/ 4947 h 7964"/>
              <a:gd name="T82" fmla="*/ 5292 w 7964"/>
              <a:gd name="T83" fmla="*/ 5141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7964" h="7964">
                <a:moveTo>
                  <a:pt x="3779" y="2906"/>
                </a:moveTo>
                <a:cubicBezTo>
                  <a:pt x="3297" y="2906"/>
                  <a:pt x="2906" y="3297"/>
                  <a:pt x="2906" y="3779"/>
                </a:cubicBezTo>
                <a:cubicBezTo>
                  <a:pt x="2906" y="4260"/>
                  <a:pt x="3297" y="4651"/>
                  <a:pt x="3779" y="4651"/>
                </a:cubicBezTo>
                <a:cubicBezTo>
                  <a:pt x="4261" y="4651"/>
                  <a:pt x="4651" y="4260"/>
                  <a:pt x="4651" y="3779"/>
                </a:cubicBezTo>
                <a:cubicBezTo>
                  <a:pt x="4651" y="3297"/>
                  <a:pt x="4261" y="2906"/>
                  <a:pt x="3779" y="2906"/>
                </a:cubicBezTo>
                <a:close/>
                <a:moveTo>
                  <a:pt x="4198" y="3444"/>
                </a:moveTo>
                <a:cubicBezTo>
                  <a:pt x="4100" y="3321"/>
                  <a:pt x="3949" y="3242"/>
                  <a:pt x="3779" y="3242"/>
                </a:cubicBezTo>
                <a:cubicBezTo>
                  <a:pt x="3597" y="3242"/>
                  <a:pt x="3437" y="3332"/>
                  <a:pt x="3339" y="3470"/>
                </a:cubicBezTo>
                <a:lnTo>
                  <a:pt x="3229" y="3394"/>
                </a:lnTo>
                <a:cubicBezTo>
                  <a:pt x="3351" y="3221"/>
                  <a:pt x="3551" y="3107"/>
                  <a:pt x="3779" y="3107"/>
                </a:cubicBezTo>
                <a:cubicBezTo>
                  <a:pt x="3991" y="3107"/>
                  <a:pt x="4180" y="3206"/>
                  <a:pt x="4303" y="3360"/>
                </a:cubicBezTo>
                <a:lnTo>
                  <a:pt x="4198" y="3444"/>
                </a:lnTo>
                <a:close/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5292" y="5141"/>
                </a:moveTo>
                <a:lnTo>
                  <a:pt x="5161" y="5289"/>
                </a:lnTo>
                <a:cubicBezTo>
                  <a:pt x="5109" y="5342"/>
                  <a:pt x="5013" y="5337"/>
                  <a:pt x="4960" y="5285"/>
                </a:cubicBezTo>
                <a:lnTo>
                  <a:pt x="4423" y="4739"/>
                </a:lnTo>
                <a:cubicBezTo>
                  <a:pt x="4419" y="4736"/>
                  <a:pt x="4417" y="4730"/>
                  <a:pt x="4414" y="4726"/>
                </a:cubicBezTo>
                <a:cubicBezTo>
                  <a:pt x="4232" y="4848"/>
                  <a:pt x="4014" y="4920"/>
                  <a:pt x="3779" y="4920"/>
                </a:cubicBezTo>
                <a:cubicBezTo>
                  <a:pt x="3148" y="4920"/>
                  <a:pt x="2637" y="4409"/>
                  <a:pt x="2637" y="3779"/>
                </a:cubicBezTo>
                <a:cubicBezTo>
                  <a:pt x="2637" y="3148"/>
                  <a:pt x="3148" y="2638"/>
                  <a:pt x="3779" y="2638"/>
                </a:cubicBezTo>
                <a:cubicBezTo>
                  <a:pt x="4409" y="2638"/>
                  <a:pt x="4920" y="3148"/>
                  <a:pt x="4920" y="3779"/>
                </a:cubicBezTo>
                <a:cubicBezTo>
                  <a:pt x="4920" y="4009"/>
                  <a:pt x="4851" y="4223"/>
                  <a:pt x="4734" y="4402"/>
                </a:cubicBezTo>
                <a:cubicBezTo>
                  <a:pt x="4736" y="4404"/>
                  <a:pt x="4738" y="4404"/>
                  <a:pt x="4740" y="4406"/>
                </a:cubicBezTo>
                <a:lnTo>
                  <a:pt x="5281" y="4947"/>
                </a:lnTo>
                <a:cubicBezTo>
                  <a:pt x="5334" y="5000"/>
                  <a:pt x="5345" y="5089"/>
                  <a:pt x="5292" y="514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4" name="Oval 21"/>
          <p:cNvSpPr>
            <a:spLocks noChangeAspect="1"/>
          </p:cNvSpPr>
          <p:nvPr/>
        </p:nvSpPr>
        <p:spPr>
          <a:xfrm>
            <a:off x="4564557" y="3231000"/>
            <a:ext cx="431886" cy="432000"/>
          </a:xfrm>
          <a:custGeom>
            <a:avLst/>
            <a:gdLst>
              <a:gd name="T0" fmla="*/ 3779 w 7964"/>
              <a:gd name="T1" fmla="*/ 2906 h 7964"/>
              <a:gd name="T2" fmla="*/ 2906 w 7964"/>
              <a:gd name="T3" fmla="*/ 3779 h 7964"/>
              <a:gd name="T4" fmla="*/ 3779 w 7964"/>
              <a:gd name="T5" fmla="*/ 4651 h 7964"/>
              <a:gd name="T6" fmla="*/ 4651 w 7964"/>
              <a:gd name="T7" fmla="*/ 3779 h 7964"/>
              <a:gd name="T8" fmla="*/ 3779 w 7964"/>
              <a:gd name="T9" fmla="*/ 2906 h 7964"/>
              <a:gd name="T10" fmla="*/ 4198 w 7964"/>
              <a:gd name="T11" fmla="*/ 3444 h 7964"/>
              <a:gd name="T12" fmla="*/ 3779 w 7964"/>
              <a:gd name="T13" fmla="*/ 3242 h 7964"/>
              <a:gd name="T14" fmla="*/ 3339 w 7964"/>
              <a:gd name="T15" fmla="*/ 3470 h 7964"/>
              <a:gd name="T16" fmla="*/ 3229 w 7964"/>
              <a:gd name="T17" fmla="*/ 3394 h 7964"/>
              <a:gd name="T18" fmla="*/ 3779 w 7964"/>
              <a:gd name="T19" fmla="*/ 3107 h 7964"/>
              <a:gd name="T20" fmla="*/ 4303 w 7964"/>
              <a:gd name="T21" fmla="*/ 3360 h 7964"/>
              <a:gd name="T22" fmla="*/ 4198 w 7964"/>
              <a:gd name="T23" fmla="*/ 3444 h 7964"/>
              <a:gd name="T24" fmla="*/ 7651 w 7964"/>
              <a:gd name="T25" fmla="*/ 2432 h 7964"/>
              <a:gd name="T26" fmla="*/ 6798 w 7964"/>
              <a:gd name="T27" fmla="*/ 1166 h 7964"/>
              <a:gd name="T28" fmla="*/ 5532 w 7964"/>
              <a:gd name="T29" fmla="*/ 313 h 7964"/>
              <a:gd name="T30" fmla="*/ 3982 w 7964"/>
              <a:gd name="T31" fmla="*/ 0 h 7964"/>
              <a:gd name="T32" fmla="*/ 2432 w 7964"/>
              <a:gd name="T33" fmla="*/ 313 h 7964"/>
              <a:gd name="T34" fmla="*/ 1166 w 7964"/>
              <a:gd name="T35" fmla="*/ 1166 h 7964"/>
              <a:gd name="T36" fmla="*/ 313 w 7964"/>
              <a:gd name="T37" fmla="*/ 2432 h 7964"/>
              <a:gd name="T38" fmla="*/ 0 w 7964"/>
              <a:gd name="T39" fmla="*/ 3982 h 7964"/>
              <a:gd name="T40" fmla="*/ 313 w 7964"/>
              <a:gd name="T41" fmla="*/ 5532 h 7964"/>
              <a:gd name="T42" fmla="*/ 1166 w 7964"/>
              <a:gd name="T43" fmla="*/ 6798 h 7964"/>
              <a:gd name="T44" fmla="*/ 2432 w 7964"/>
              <a:gd name="T45" fmla="*/ 7651 h 7964"/>
              <a:gd name="T46" fmla="*/ 3982 w 7964"/>
              <a:gd name="T47" fmla="*/ 7964 h 7964"/>
              <a:gd name="T48" fmla="*/ 5532 w 7964"/>
              <a:gd name="T49" fmla="*/ 7651 h 7964"/>
              <a:gd name="T50" fmla="*/ 6798 w 7964"/>
              <a:gd name="T51" fmla="*/ 6798 h 7964"/>
              <a:gd name="T52" fmla="*/ 7651 w 7964"/>
              <a:gd name="T53" fmla="*/ 5532 h 7964"/>
              <a:gd name="T54" fmla="*/ 7964 w 7964"/>
              <a:gd name="T55" fmla="*/ 3982 h 7964"/>
              <a:gd name="T56" fmla="*/ 7651 w 7964"/>
              <a:gd name="T57" fmla="*/ 2432 h 7964"/>
              <a:gd name="T58" fmla="*/ 5292 w 7964"/>
              <a:gd name="T59" fmla="*/ 5141 h 7964"/>
              <a:gd name="T60" fmla="*/ 5161 w 7964"/>
              <a:gd name="T61" fmla="*/ 5289 h 7964"/>
              <a:gd name="T62" fmla="*/ 4960 w 7964"/>
              <a:gd name="T63" fmla="*/ 5285 h 7964"/>
              <a:gd name="T64" fmla="*/ 4423 w 7964"/>
              <a:gd name="T65" fmla="*/ 4739 h 7964"/>
              <a:gd name="T66" fmla="*/ 4414 w 7964"/>
              <a:gd name="T67" fmla="*/ 4726 h 7964"/>
              <a:gd name="T68" fmla="*/ 3779 w 7964"/>
              <a:gd name="T69" fmla="*/ 4920 h 7964"/>
              <a:gd name="T70" fmla="*/ 2637 w 7964"/>
              <a:gd name="T71" fmla="*/ 3779 h 7964"/>
              <a:gd name="T72" fmla="*/ 3779 w 7964"/>
              <a:gd name="T73" fmla="*/ 2638 h 7964"/>
              <a:gd name="T74" fmla="*/ 4920 w 7964"/>
              <a:gd name="T75" fmla="*/ 3779 h 7964"/>
              <a:gd name="T76" fmla="*/ 4734 w 7964"/>
              <a:gd name="T77" fmla="*/ 4402 h 7964"/>
              <a:gd name="T78" fmla="*/ 4740 w 7964"/>
              <a:gd name="T79" fmla="*/ 4406 h 7964"/>
              <a:gd name="T80" fmla="*/ 5281 w 7964"/>
              <a:gd name="T81" fmla="*/ 4947 h 7964"/>
              <a:gd name="T82" fmla="*/ 5292 w 7964"/>
              <a:gd name="T83" fmla="*/ 5141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7964" h="7964">
                <a:moveTo>
                  <a:pt x="3779" y="2906"/>
                </a:moveTo>
                <a:cubicBezTo>
                  <a:pt x="3297" y="2906"/>
                  <a:pt x="2906" y="3297"/>
                  <a:pt x="2906" y="3779"/>
                </a:cubicBezTo>
                <a:cubicBezTo>
                  <a:pt x="2906" y="4260"/>
                  <a:pt x="3297" y="4651"/>
                  <a:pt x="3779" y="4651"/>
                </a:cubicBezTo>
                <a:cubicBezTo>
                  <a:pt x="4261" y="4651"/>
                  <a:pt x="4651" y="4260"/>
                  <a:pt x="4651" y="3779"/>
                </a:cubicBezTo>
                <a:cubicBezTo>
                  <a:pt x="4651" y="3297"/>
                  <a:pt x="4261" y="2906"/>
                  <a:pt x="3779" y="2906"/>
                </a:cubicBezTo>
                <a:close/>
                <a:moveTo>
                  <a:pt x="4198" y="3444"/>
                </a:moveTo>
                <a:cubicBezTo>
                  <a:pt x="4100" y="3321"/>
                  <a:pt x="3949" y="3242"/>
                  <a:pt x="3779" y="3242"/>
                </a:cubicBezTo>
                <a:cubicBezTo>
                  <a:pt x="3597" y="3242"/>
                  <a:pt x="3437" y="3332"/>
                  <a:pt x="3339" y="3470"/>
                </a:cubicBezTo>
                <a:lnTo>
                  <a:pt x="3229" y="3394"/>
                </a:lnTo>
                <a:cubicBezTo>
                  <a:pt x="3351" y="3221"/>
                  <a:pt x="3551" y="3107"/>
                  <a:pt x="3779" y="3107"/>
                </a:cubicBezTo>
                <a:cubicBezTo>
                  <a:pt x="3991" y="3107"/>
                  <a:pt x="4180" y="3206"/>
                  <a:pt x="4303" y="3360"/>
                </a:cubicBezTo>
                <a:lnTo>
                  <a:pt x="4198" y="3444"/>
                </a:lnTo>
                <a:close/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5292" y="5141"/>
                </a:moveTo>
                <a:lnTo>
                  <a:pt x="5161" y="5289"/>
                </a:lnTo>
                <a:cubicBezTo>
                  <a:pt x="5109" y="5342"/>
                  <a:pt x="5013" y="5337"/>
                  <a:pt x="4960" y="5285"/>
                </a:cubicBezTo>
                <a:lnTo>
                  <a:pt x="4423" y="4739"/>
                </a:lnTo>
                <a:cubicBezTo>
                  <a:pt x="4419" y="4736"/>
                  <a:pt x="4417" y="4730"/>
                  <a:pt x="4414" y="4726"/>
                </a:cubicBezTo>
                <a:cubicBezTo>
                  <a:pt x="4232" y="4848"/>
                  <a:pt x="4014" y="4920"/>
                  <a:pt x="3779" y="4920"/>
                </a:cubicBezTo>
                <a:cubicBezTo>
                  <a:pt x="3148" y="4920"/>
                  <a:pt x="2637" y="4409"/>
                  <a:pt x="2637" y="3779"/>
                </a:cubicBezTo>
                <a:cubicBezTo>
                  <a:pt x="2637" y="3148"/>
                  <a:pt x="3148" y="2638"/>
                  <a:pt x="3779" y="2638"/>
                </a:cubicBezTo>
                <a:cubicBezTo>
                  <a:pt x="4409" y="2638"/>
                  <a:pt x="4920" y="3148"/>
                  <a:pt x="4920" y="3779"/>
                </a:cubicBezTo>
                <a:cubicBezTo>
                  <a:pt x="4920" y="4009"/>
                  <a:pt x="4851" y="4223"/>
                  <a:pt x="4734" y="4402"/>
                </a:cubicBezTo>
                <a:cubicBezTo>
                  <a:pt x="4736" y="4404"/>
                  <a:pt x="4738" y="4404"/>
                  <a:pt x="4740" y="4406"/>
                </a:cubicBezTo>
                <a:lnTo>
                  <a:pt x="5281" y="4947"/>
                </a:lnTo>
                <a:cubicBezTo>
                  <a:pt x="5334" y="5000"/>
                  <a:pt x="5345" y="5089"/>
                  <a:pt x="5292" y="514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Oval 23"/>
          <p:cNvSpPr>
            <a:spLocks noChangeAspect="1"/>
          </p:cNvSpPr>
          <p:nvPr/>
        </p:nvSpPr>
        <p:spPr>
          <a:xfrm>
            <a:off x="5898057" y="4564500"/>
            <a:ext cx="431886" cy="432000"/>
          </a:xfrm>
          <a:custGeom>
            <a:avLst/>
            <a:gdLst>
              <a:gd name="T0" fmla="*/ 3779 w 7964"/>
              <a:gd name="T1" fmla="*/ 2906 h 7964"/>
              <a:gd name="T2" fmla="*/ 2906 w 7964"/>
              <a:gd name="T3" fmla="*/ 3779 h 7964"/>
              <a:gd name="T4" fmla="*/ 3779 w 7964"/>
              <a:gd name="T5" fmla="*/ 4651 h 7964"/>
              <a:gd name="T6" fmla="*/ 4651 w 7964"/>
              <a:gd name="T7" fmla="*/ 3779 h 7964"/>
              <a:gd name="T8" fmla="*/ 3779 w 7964"/>
              <a:gd name="T9" fmla="*/ 2906 h 7964"/>
              <a:gd name="T10" fmla="*/ 4198 w 7964"/>
              <a:gd name="T11" fmla="*/ 3444 h 7964"/>
              <a:gd name="T12" fmla="*/ 3779 w 7964"/>
              <a:gd name="T13" fmla="*/ 3242 h 7964"/>
              <a:gd name="T14" fmla="*/ 3339 w 7964"/>
              <a:gd name="T15" fmla="*/ 3470 h 7964"/>
              <a:gd name="T16" fmla="*/ 3229 w 7964"/>
              <a:gd name="T17" fmla="*/ 3394 h 7964"/>
              <a:gd name="T18" fmla="*/ 3779 w 7964"/>
              <a:gd name="T19" fmla="*/ 3107 h 7964"/>
              <a:gd name="T20" fmla="*/ 4303 w 7964"/>
              <a:gd name="T21" fmla="*/ 3360 h 7964"/>
              <a:gd name="T22" fmla="*/ 4198 w 7964"/>
              <a:gd name="T23" fmla="*/ 3444 h 7964"/>
              <a:gd name="T24" fmla="*/ 7651 w 7964"/>
              <a:gd name="T25" fmla="*/ 2432 h 7964"/>
              <a:gd name="T26" fmla="*/ 6798 w 7964"/>
              <a:gd name="T27" fmla="*/ 1166 h 7964"/>
              <a:gd name="T28" fmla="*/ 5532 w 7964"/>
              <a:gd name="T29" fmla="*/ 313 h 7964"/>
              <a:gd name="T30" fmla="*/ 3982 w 7964"/>
              <a:gd name="T31" fmla="*/ 0 h 7964"/>
              <a:gd name="T32" fmla="*/ 2432 w 7964"/>
              <a:gd name="T33" fmla="*/ 313 h 7964"/>
              <a:gd name="T34" fmla="*/ 1166 w 7964"/>
              <a:gd name="T35" fmla="*/ 1166 h 7964"/>
              <a:gd name="T36" fmla="*/ 313 w 7964"/>
              <a:gd name="T37" fmla="*/ 2432 h 7964"/>
              <a:gd name="T38" fmla="*/ 0 w 7964"/>
              <a:gd name="T39" fmla="*/ 3982 h 7964"/>
              <a:gd name="T40" fmla="*/ 313 w 7964"/>
              <a:gd name="T41" fmla="*/ 5532 h 7964"/>
              <a:gd name="T42" fmla="*/ 1166 w 7964"/>
              <a:gd name="T43" fmla="*/ 6798 h 7964"/>
              <a:gd name="T44" fmla="*/ 2432 w 7964"/>
              <a:gd name="T45" fmla="*/ 7651 h 7964"/>
              <a:gd name="T46" fmla="*/ 3982 w 7964"/>
              <a:gd name="T47" fmla="*/ 7964 h 7964"/>
              <a:gd name="T48" fmla="*/ 5532 w 7964"/>
              <a:gd name="T49" fmla="*/ 7651 h 7964"/>
              <a:gd name="T50" fmla="*/ 6798 w 7964"/>
              <a:gd name="T51" fmla="*/ 6798 h 7964"/>
              <a:gd name="T52" fmla="*/ 7651 w 7964"/>
              <a:gd name="T53" fmla="*/ 5532 h 7964"/>
              <a:gd name="T54" fmla="*/ 7964 w 7964"/>
              <a:gd name="T55" fmla="*/ 3982 h 7964"/>
              <a:gd name="T56" fmla="*/ 7651 w 7964"/>
              <a:gd name="T57" fmla="*/ 2432 h 7964"/>
              <a:gd name="T58" fmla="*/ 5292 w 7964"/>
              <a:gd name="T59" fmla="*/ 5141 h 7964"/>
              <a:gd name="T60" fmla="*/ 5161 w 7964"/>
              <a:gd name="T61" fmla="*/ 5289 h 7964"/>
              <a:gd name="T62" fmla="*/ 4960 w 7964"/>
              <a:gd name="T63" fmla="*/ 5285 h 7964"/>
              <a:gd name="T64" fmla="*/ 4423 w 7964"/>
              <a:gd name="T65" fmla="*/ 4739 h 7964"/>
              <a:gd name="T66" fmla="*/ 4414 w 7964"/>
              <a:gd name="T67" fmla="*/ 4726 h 7964"/>
              <a:gd name="T68" fmla="*/ 3779 w 7964"/>
              <a:gd name="T69" fmla="*/ 4920 h 7964"/>
              <a:gd name="T70" fmla="*/ 2637 w 7964"/>
              <a:gd name="T71" fmla="*/ 3779 h 7964"/>
              <a:gd name="T72" fmla="*/ 3779 w 7964"/>
              <a:gd name="T73" fmla="*/ 2638 h 7964"/>
              <a:gd name="T74" fmla="*/ 4920 w 7964"/>
              <a:gd name="T75" fmla="*/ 3779 h 7964"/>
              <a:gd name="T76" fmla="*/ 4734 w 7964"/>
              <a:gd name="T77" fmla="*/ 4402 h 7964"/>
              <a:gd name="T78" fmla="*/ 4740 w 7964"/>
              <a:gd name="T79" fmla="*/ 4406 h 7964"/>
              <a:gd name="T80" fmla="*/ 5281 w 7964"/>
              <a:gd name="T81" fmla="*/ 4947 h 7964"/>
              <a:gd name="T82" fmla="*/ 5292 w 7964"/>
              <a:gd name="T83" fmla="*/ 5141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7964" h="7964">
                <a:moveTo>
                  <a:pt x="3779" y="2906"/>
                </a:moveTo>
                <a:cubicBezTo>
                  <a:pt x="3297" y="2906"/>
                  <a:pt x="2906" y="3297"/>
                  <a:pt x="2906" y="3779"/>
                </a:cubicBezTo>
                <a:cubicBezTo>
                  <a:pt x="2906" y="4260"/>
                  <a:pt x="3297" y="4651"/>
                  <a:pt x="3779" y="4651"/>
                </a:cubicBezTo>
                <a:cubicBezTo>
                  <a:pt x="4261" y="4651"/>
                  <a:pt x="4651" y="4260"/>
                  <a:pt x="4651" y="3779"/>
                </a:cubicBezTo>
                <a:cubicBezTo>
                  <a:pt x="4651" y="3297"/>
                  <a:pt x="4261" y="2906"/>
                  <a:pt x="3779" y="2906"/>
                </a:cubicBezTo>
                <a:close/>
                <a:moveTo>
                  <a:pt x="4198" y="3444"/>
                </a:moveTo>
                <a:cubicBezTo>
                  <a:pt x="4100" y="3321"/>
                  <a:pt x="3949" y="3242"/>
                  <a:pt x="3779" y="3242"/>
                </a:cubicBezTo>
                <a:cubicBezTo>
                  <a:pt x="3597" y="3242"/>
                  <a:pt x="3437" y="3332"/>
                  <a:pt x="3339" y="3470"/>
                </a:cubicBezTo>
                <a:lnTo>
                  <a:pt x="3229" y="3394"/>
                </a:lnTo>
                <a:cubicBezTo>
                  <a:pt x="3351" y="3221"/>
                  <a:pt x="3551" y="3107"/>
                  <a:pt x="3779" y="3107"/>
                </a:cubicBezTo>
                <a:cubicBezTo>
                  <a:pt x="3991" y="3107"/>
                  <a:pt x="4180" y="3206"/>
                  <a:pt x="4303" y="3360"/>
                </a:cubicBezTo>
                <a:lnTo>
                  <a:pt x="4198" y="3444"/>
                </a:lnTo>
                <a:close/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5292" y="5141"/>
                </a:moveTo>
                <a:lnTo>
                  <a:pt x="5161" y="5289"/>
                </a:lnTo>
                <a:cubicBezTo>
                  <a:pt x="5109" y="5342"/>
                  <a:pt x="5013" y="5337"/>
                  <a:pt x="4960" y="5285"/>
                </a:cubicBezTo>
                <a:lnTo>
                  <a:pt x="4423" y="4739"/>
                </a:lnTo>
                <a:cubicBezTo>
                  <a:pt x="4419" y="4736"/>
                  <a:pt x="4417" y="4730"/>
                  <a:pt x="4414" y="4726"/>
                </a:cubicBezTo>
                <a:cubicBezTo>
                  <a:pt x="4232" y="4848"/>
                  <a:pt x="4014" y="4920"/>
                  <a:pt x="3779" y="4920"/>
                </a:cubicBezTo>
                <a:cubicBezTo>
                  <a:pt x="3148" y="4920"/>
                  <a:pt x="2637" y="4409"/>
                  <a:pt x="2637" y="3779"/>
                </a:cubicBezTo>
                <a:cubicBezTo>
                  <a:pt x="2637" y="3148"/>
                  <a:pt x="3148" y="2638"/>
                  <a:pt x="3779" y="2638"/>
                </a:cubicBezTo>
                <a:cubicBezTo>
                  <a:pt x="4409" y="2638"/>
                  <a:pt x="4920" y="3148"/>
                  <a:pt x="4920" y="3779"/>
                </a:cubicBezTo>
                <a:cubicBezTo>
                  <a:pt x="4920" y="4009"/>
                  <a:pt x="4851" y="4223"/>
                  <a:pt x="4734" y="4402"/>
                </a:cubicBezTo>
                <a:cubicBezTo>
                  <a:pt x="4736" y="4404"/>
                  <a:pt x="4738" y="4404"/>
                  <a:pt x="4740" y="4406"/>
                </a:cubicBezTo>
                <a:lnTo>
                  <a:pt x="5281" y="4947"/>
                </a:lnTo>
                <a:cubicBezTo>
                  <a:pt x="5334" y="5000"/>
                  <a:pt x="5345" y="5089"/>
                  <a:pt x="5292" y="514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9" name="Oval 24"/>
          <p:cNvSpPr>
            <a:spLocks noChangeAspect="1"/>
          </p:cNvSpPr>
          <p:nvPr/>
        </p:nvSpPr>
        <p:spPr>
          <a:xfrm>
            <a:off x="7231557" y="3231000"/>
            <a:ext cx="431886" cy="432000"/>
          </a:xfrm>
          <a:custGeom>
            <a:avLst/>
            <a:gdLst>
              <a:gd name="T0" fmla="*/ 3779 w 7964"/>
              <a:gd name="T1" fmla="*/ 2906 h 7964"/>
              <a:gd name="T2" fmla="*/ 2906 w 7964"/>
              <a:gd name="T3" fmla="*/ 3779 h 7964"/>
              <a:gd name="T4" fmla="*/ 3779 w 7964"/>
              <a:gd name="T5" fmla="*/ 4651 h 7964"/>
              <a:gd name="T6" fmla="*/ 4651 w 7964"/>
              <a:gd name="T7" fmla="*/ 3779 h 7964"/>
              <a:gd name="T8" fmla="*/ 3779 w 7964"/>
              <a:gd name="T9" fmla="*/ 2906 h 7964"/>
              <a:gd name="T10" fmla="*/ 4198 w 7964"/>
              <a:gd name="T11" fmla="*/ 3444 h 7964"/>
              <a:gd name="T12" fmla="*/ 3779 w 7964"/>
              <a:gd name="T13" fmla="*/ 3242 h 7964"/>
              <a:gd name="T14" fmla="*/ 3339 w 7964"/>
              <a:gd name="T15" fmla="*/ 3470 h 7964"/>
              <a:gd name="T16" fmla="*/ 3229 w 7964"/>
              <a:gd name="T17" fmla="*/ 3394 h 7964"/>
              <a:gd name="T18" fmla="*/ 3779 w 7964"/>
              <a:gd name="T19" fmla="*/ 3107 h 7964"/>
              <a:gd name="T20" fmla="*/ 4303 w 7964"/>
              <a:gd name="T21" fmla="*/ 3360 h 7964"/>
              <a:gd name="T22" fmla="*/ 4198 w 7964"/>
              <a:gd name="T23" fmla="*/ 3444 h 7964"/>
              <a:gd name="T24" fmla="*/ 7651 w 7964"/>
              <a:gd name="T25" fmla="*/ 2432 h 7964"/>
              <a:gd name="T26" fmla="*/ 6798 w 7964"/>
              <a:gd name="T27" fmla="*/ 1166 h 7964"/>
              <a:gd name="T28" fmla="*/ 5532 w 7964"/>
              <a:gd name="T29" fmla="*/ 313 h 7964"/>
              <a:gd name="T30" fmla="*/ 3982 w 7964"/>
              <a:gd name="T31" fmla="*/ 0 h 7964"/>
              <a:gd name="T32" fmla="*/ 2432 w 7964"/>
              <a:gd name="T33" fmla="*/ 313 h 7964"/>
              <a:gd name="T34" fmla="*/ 1166 w 7964"/>
              <a:gd name="T35" fmla="*/ 1166 h 7964"/>
              <a:gd name="T36" fmla="*/ 313 w 7964"/>
              <a:gd name="T37" fmla="*/ 2432 h 7964"/>
              <a:gd name="T38" fmla="*/ 0 w 7964"/>
              <a:gd name="T39" fmla="*/ 3982 h 7964"/>
              <a:gd name="T40" fmla="*/ 313 w 7964"/>
              <a:gd name="T41" fmla="*/ 5532 h 7964"/>
              <a:gd name="T42" fmla="*/ 1166 w 7964"/>
              <a:gd name="T43" fmla="*/ 6798 h 7964"/>
              <a:gd name="T44" fmla="*/ 2432 w 7964"/>
              <a:gd name="T45" fmla="*/ 7651 h 7964"/>
              <a:gd name="T46" fmla="*/ 3982 w 7964"/>
              <a:gd name="T47" fmla="*/ 7964 h 7964"/>
              <a:gd name="T48" fmla="*/ 5532 w 7964"/>
              <a:gd name="T49" fmla="*/ 7651 h 7964"/>
              <a:gd name="T50" fmla="*/ 6798 w 7964"/>
              <a:gd name="T51" fmla="*/ 6798 h 7964"/>
              <a:gd name="T52" fmla="*/ 7651 w 7964"/>
              <a:gd name="T53" fmla="*/ 5532 h 7964"/>
              <a:gd name="T54" fmla="*/ 7964 w 7964"/>
              <a:gd name="T55" fmla="*/ 3982 h 7964"/>
              <a:gd name="T56" fmla="*/ 7651 w 7964"/>
              <a:gd name="T57" fmla="*/ 2432 h 7964"/>
              <a:gd name="T58" fmla="*/ 5292 w 7964"/>
              <a:gd name="T59" fmla="*/ 5141 h 7964"/>
              <a:gd name="T60" fmla="*/ 5161 w 7964"/>
              <a:gd name="T61" fmla="*/ 5289 h 7964"/>
              <a:gd name="T62" fmla="*/ 4960 w 7964"/>
              <a:gd name="T63" fmla="*/ 5285 h 7964"/>
              <a:gd name="T64" fmla="*/ 4423 w 7964"/>
              <a:gd name="T65" fmla="*/ 4739 h 7964"/>
              <a:gd name="T66" fmla="*/ 4414 w 7964"/>
              <a:gd name="T67" fmla="*/ 4726 h 7964"/>
              <a:gd name="T68" fmla="*/ 3779 w 7964"/>
              <a:gd name="T69" fmla="*/ 4920 h 7964"/>
              <a:gd name="T70" fmla="*/ 2637 w 7964"/>
              <a:gd name="T71" fmla="*/ 3779 h 7964"/>
              <a:gd name="T72" fmla="*/ 3779 w 7964"/>
              <a:gd name="T73" fmla="*/ 2638 h 7964"/>
              <a:gd name="T74" fmla="*/ 4920 w 7964"/>
              <a:gd name="T75" fmla="*/ 3779 h 7964"/>
              <a:gd name="T76" fmla="*/ 4734 w 7964"/>
              <a:gd name="T77" fmla="*/ 4402 h 7964"/>
              <a:gd name="T78" fmla="*/ 4740 w 7964"/>
              <a:gd name="T79" fmla="*/ 4406 h 7964"/>
              <a:gd name="T80" fmla="*/ 5281 w 7964"/>
              <a:gd name="T81" fmla="*/ 4947 h 7964"/>
              <a:gd name="T82" fmla="*/ 5292 w 7964"/>
              <a:gd name="T83" fmla="*/ 5141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7964" h="7964">
                <a:moveTo>
                  <a:pt x="3779" y="2906"/>
                </a:moveTo>
                <a:cubicBezTo>
                  <a:pt x="3297" y="2906"/>
                  <a:pt x="2906" y="3297"/>
                  <a:pt x="2906" y="3779"/>
                </a:cubicBezTo>
                <a:cubicBezTo>
                  <a:pt x="2906" y="4260"/>
                  <a:pt x="3297" y="4651"/>
                  <a:pt x="3779" y="4651"/>
                </a:cubicBezTo>
                <a:cubicBezTo>
                  <a:pt x="4261" y="4651"/>
                  <a:pt x="4651" y="4260"/>
                  <a:pt x="4651" y="3779"/>
                </a:cubicBezTo>
                <a:cubicBezTo>
                  <a:pt x="4651" y="3297"/>
                  <a:pt x="4261" y="2906"/>
                  <a:pt x="3779" y="2906"/>
                </a:cubicBezTo>
                <a:close/>
                <a:moveTo>
                  <a:pt x="4198" y="3444"/>
                </a:moveTo>
                <a:cubicBezTo>
                  <a:pt x="4100" y="3321"/>
                  <a:pt x="3949" y="3242"/>
                  <a:pt x="3779" y="3242"/>
                </a:cubicBezTo>
                <a:cubicBezTo>
                  <a:pt x="3597" y="3242"/>
                  <a:pt x="3437" y="3332"/>
                  <a:pt x="3339" y="3470"/>
                </a:cubicBezTo>
                <a:lnTo>
                  <a:pt x="3229" y="3394"/>
                </a:lnTo>
                <a:cubicBezTo>
                  <a:pt x="3351" y="3221"/>
                  <a:pt x="3551" y="3107"/>
                  <a:pt x="3779" y="3107"/>
                </a:cubicBezTo>
                <a:cubicBezTo>
                  <a:pt x="3991" y="3107"/>
                  <a:pt x="4180" y="3206"/>
                  <a:pt x="4303" y="3360"/>
                </a:cubicBezTo>
                <a:lnTo>
                  <a:pt x="4198" y="3444"/>
                </a:lnTo>
                <a:close/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5292" y="5141"/>
                </a:moveTo>
                <a:lnTo>
                  <a:pt x="5161" y="5289"/>
                </a:lnTo>
                <a:cubicBezTo>
                  <a:pt x="5109" y="5342"/>
                  <a:pt x="5013" y="5337"/>
                  <a:pt x="4960" y="5285"/>
                </a:cubicBezTo>
                <a:lnTo>
                  <a:pt x="4423" y="4739"/>
                </a:lnTo>
                <a:cubicBezTo>
                  <a:pt x="4419" y="4736"/>
                  <a:pt x="4417" y="4730"/>
                  <a:pt x="4414" y="4726"/>
                </a:cubicBezTo>
                <a:cubicBezTo>
                  <a:pt x="4232" y="4848"/>
                  <a:pt x="4014" y="4920"/>
                  <a:pt x="3779" y="4920"/>
                </a:cubicBezTo>
                <a:cubicBezTo>
                  <a:pt x="3148" y="4920"/>
                  <a:pt x="2637" y="4409"/>
                  <a:pt x="2637" y="3779"/>
                </a:cubicBezTo>
                <a:cubicBezTo>
                  <a:pt x="2637" y="3148"/>
                  <a:pt x="3148" y="2638"/>
                  <a:pt x="3779" y="2638"/>
                </a:cubicBezTo>
                <a:cubicBezTo>
                  <a:pt x="4409" y="2638"/>
                  <a:pt x="4920" y="3148"/>
                  <a:pt x="4920" y="3779"/>
                </a:cubicBezTo>
                <a:cubicBezTo>
                  <a:pt x="4920" y="4009"/>
                  <a:pt x="4851" y="4223"/>
                  <a:pt x="4734" y="4402"/>
                </a:cubicBezTo>
                <a:cubicBezTo>
                  <a:pt x="4736" y="4404"/>
                  <a:pt x="4738" y="4404"/>
                  <a:pt x="4740" y="4406"/>
                </a:cubicBezTo>
                <a:lnTo>
                  <a:pt x="5281" y="4947"/>
                </a:lnTo>
                <a:cubicBezTo>
                  <a:pt x="5334" y="5000"/>
                  <a:pt x="5345" y="5089"/>
                  <a:pt x="5292" y="514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871793" y="1339993"/>
            <a:ext cx="252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 spc="100" dirty="0">
                <a:solidFill>
                  <a:srgbClr val="4276A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1. </a:t>
            </a:r>
            <a:r>
              <a:rPr lang="zh-CN" altLang="en-US" sz="1600" b="1" spc="100" dirty="0">
                <a:solidFill>
                  <a:srgbClr val="4276A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查询流程与执行机制</a:t>
            </a:r>
            <a:endParaRPr lang="zh-CN" altLang="en-US" sz="1600" b="1" spc="100" dirty="0">
              <a:solidFill>
                <a:srgbClr val="4276AA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228352" y="1700527"/>
            <a:ext cx="3860800" cy="1186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1400" b="1" dirty="0" err="1">
                <a:solidFill>
                  <a:srgbClr val="A5AB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Oceanbase</a:t>
            </a:r>
            <a:r>
              <a:rPr lang="zh-CN" altLang="en-US" sz="1400" b="1" dirty="0">
                <a:solidFill>
                  <a:srgbClr val="A5AB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采用分阶段的流水线式处理，包括语义解析、查询改写、优化与执行。</a:t>
            </a:r>
            <a:endParaRPr lang="en-US" altLang="zh-CN" sz="1400" b="1" dirty="0">
              <a:solidFill>
                <a:srgbClr val="A5ABB7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rgbClr val="A5AB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ea"/>
              </a:rPr>
              <a:t>MySQL</a:t>
            </a:r>
            <a:r>
              <a:rPr lang="zh-CN" altLang="en-US" sz="1400" b="1" dirty="0">
                <a:solidFill>
                  <a:srgbClr val="A5AB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ea"/>
              </a:rPr>
              <a:t>虽曾引入查询缓存（</a:t>
            </a:r>
            <a:r>
              <a:rPr lang="en-US" altLang="zh-CN" sz="1400" b="1" dirty="0">
                <a:solidFill>
                  <a:srgbClr val="A5AB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ea"/>
              </a:rPr>
              <a:t>Query Cache</a:t>
            </a:r>
            <a:r>
              <a:rPr lang="zh-CN" altLang="en-US" sz="1400" b="1" dirty="0">
                <a:solidFill>
                  <a:srgbClr val="A5AB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ea"/>
              </a:rPr>
              <a:t>），但因效果不佳而被移除。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7770495" y="3071495"/>
            <a:ext cx="252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 spc="100" dirty="0">
                <a:solidFill>
                  <a:srgbClr val="4276A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2. </a:t>
            </a:r>
            <a:r>
              <a:rPr lang="zh-CN" altLang="en-US" sz="1600" b="1" spc="100" dirty="0">
                <a:solidFill>
                  <a:srgbClr val="4276A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查询改写与优化能力</a:t>
            </a:r>
            <a:endParaRPr lang="zh-CN" altLang="en-US" sz="1600" b="1" spc="100" dirty="0">
              <a:solidFill>
                <a:srgbClr val="4276AA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7770300" y="3547009"/>
            <a:ext cx="3860800" cy="1746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1400" b="1" dirty="0" err="1">
                <a:solidFill>
                  <a:srgbClr val="A5AB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Oceanbase</a:t>
            </a:r>
            <a:r>
              <a:rPr lang="zh-CN" altLang="en-US" sz="1400" b="1" dirty="0">
                <a:solidFill>
                  <a:srgbClr val="A5AB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的查询改写模块（</a:t>
            </a:r>
            <a:r>
              <a:rPr lang="en-US" altLang="zh-CN" sz="1400" b="1" dirty="0">
                <a:solidFill>
                  <a:srgbClr val="A5AB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Transformer</a:t>
            </a:r>
            <a:r>
              <a:rPr lang="zh-CN" altLang="en-US" sz="1400" b="1" dirty="0">
                <a:solidFill>
                  <a:srgbClr val="A5AB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）通过约</a:t>
            </a:r>
            <a:r>
              <a:rPr lang="en-US" altLang="zh-CN" sz="1400" b="1" dirty="0">
                <a:solidFill>
                  <a:srgbClr val="A5AB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35</a:t>
            </a:r>
            <a:r>
              <a:rPr lang="zh-CN" altLang="en-US" sz="1400" b="1" dirty="0">
                <a:solidFill>
                  <a:srgbClr val="A5AB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条规则实现深度优化，包括谓词下推、子查询扁平化、视图合并等策略。</a:t>
            </a:r>
            <a:endParaRPr lang="en-US" altLang="zh-CN" sz="1400" b="1" dirty="0">
              <a:solidFill>
                <a:srgbClr val="A5ABB7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A5AB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相比之下，</a:t>
            </a:r>
            <a:r>
              <a:rPr lang="en-US" altLang="zh-CN" sz="1400" b="1" dirty="0">
                <a:solidFill>
                  <a:srgbClr val="A5AB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MySQL</a:t>
            </a:r>
            <a:r>
              <a:rPr lang="zh-CN" altLang="en-US" sz="1400" b="1" dirty="0">
                <a:solidFill>
                  <a:srgbClr val="A5AB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的优化器的语义等价转换有限，在大多数复杂情形下仍需依赖开发者手动优化</a:t>
            </a:r>
            <a:r>
              <a:rPr lang="en-US" altLang="zh-CN" sz="1400" b="1" dirty="0">
                <a:solidFill>
                  <a:srgbClr val="A5AB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SQL</a:t>
            </a:r>
            <a:r>
              <a:rPr lang="zh-CN" altLang="en-US" sz="1400" b="1" dirty="0">
                <a:solidFill>
                  <a:srgbClr val="A5AB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结构。</a:t>
            </a:r>
            <a:endParaRPr lang="zh-CN" altLang="en-US" sz="1400" b="1" dirty="0">
              <a:solidFill>
                <a:srgbClr val="A5ABB7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+mn-ea"/>
              <a:sym typeface="+mn-e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3378200" y="4648634"/>
            <a:ext cx="252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 spc="100" dirty="0">
                <a:solidFill>
                  <a:srgbClr val="4276A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3. </a:t>
            </a:r>
            <a:r>
              <a:rPr lang="zh-CN" altLang="en-US" sz="1600" b="1" spc="100" dirty="0">
                <a:solidFill>
                  <a:srgbClr val="4276A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优化器与分布式支持</a:t>
            </a:r>
            <a:endParaRPr lang="zh-CN" altLang="en-US" sz="1600" b="1" spc="100" dirty="0">
              <a:solidFill>
                <a:srgbClr val="4276AA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453143" y="5109050"/>
            <a:ext cx="5614766" cy="906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1400" b="1" dirty="0" err="1">
                <a:solidFill>
                  <a:srgbClr val="A5AB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Oceanbase</a:t>
            </a:r>
            <a:r>
              <a:rPr lang="zh-CN" altLang="en-US" sz="1400" b="1" dirty="0">
                <a:solidFill>
                  <a:srgbClr val="A5AB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的优化器基于</a:t>
            </a:r>
            <a:r>
              <a:rPr lang="en-US" altLang="zh-CN" sz="1400" b="1" dirty="0">
                <a:solidFill>
                  <a:srgbClr val="A5AB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System-R</a:t>
            </a:r>
            <a:r>
              <a:rPr lang="zh-CN" altLang="en-US" sz="1400" b="1" dirty="0">
                <a:solidFill>
                  <a:srgbClr val="A5AB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框架，结合统计信息与动态代价模型，支持逻辑优化与物理优化。而</a:t>
            </a:r>
            <a:r>
              <a:rPr lang="en-US" altLang="zh-CN" sz="1400" b="1" dirty="0">
                <a:solidFill>
                  <a:srgbClr val="A5AB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MySQL</a:t>
            </a:r>
            <a:r>
              <a:rPr lang="zh-CN" altLang="en-US" sz="1400" b="1" dirty="0">
                <a:solidFill>
                  <a:srgbClr val="A5AB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作为单机或主从架构数据库，其优化器主要面向集中式数据处理，缺乏原生分布式场景的优化能力。</a:t>
            </a:r>
            <a:endParaRPr lang="zh-CN" altLang="en-US" sz="1400" b="1" dirty="0">
              <a:solidFill>
                <a:srgbClr val="A5ABB7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+mn-ea"/>
              <a:sym typeface="+mn-ea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2097177" y="3134519"/>
            <a:ext cx="252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 spc="100" dirty="0">
                <a:solidFill>
                  <a:srgbClr val="4276A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4. </a:t>
            </a:r>
            <a:r>
              <a:rPr lang="zh-CN" altLang="en-US" sz="1600" b="1" spc="100" dirty="0">
                <a:solidFill>
                  <a:srgbClr val="4276A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扩展性与</a:t>
            </a:r>
            <a:r>
              <a:rPr lang="en-US" altLang="zh-CN" sz="1600" b="1" spc="100" dirty="0">
                <a:solidFill>
                  <a:srgbClr val="4276A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HTAP</a:t>
            </a:r>
            <a:r>
              <a:rPr lang="zh-CN" altLang="en-US" sz="1600" b="1" spc="100" dirty="0">
                <a:solidFill>
                  <a:srgbClr val="4276A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能力</a:t>
            </a:r>
            <a:endParaRPr lang="zh-CN" altLang="en-US" sz="1600" b="1" spc="100" dirty="0">
              <a:solidFill>
                <a:srgbClr val="4276AA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1098023" y="1357819"/>
            <a:ext cx="3860800" cy="1746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1400" b="1" dirty="0" err="1">
                <a:solidFill>
                  <a:srgbClr val="A5AB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Oceanbase</a:t>
            </a:r>
            <a:r>
              <a:rPr lang="zh-CN" altLang="en-US" sz="1400" b="1" dirty="0">
                <a:solidFill>
                  <a:srgbClr val="A5AB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的无共享架构支持水平扩展至数千节点，单表规模可达万亿级，并通过实时</a:t>
            </a:r>
            <a:r>
              <a:rPr lang="en-US" altLang="zh-CN" sz="1400" b="1" dirty="0">
                <a:solidFill>
                  <a:srgbClr val="A5AB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HTAP</a:t>
            </a:r>
            <a:r>
              <a:rPr lang="zh-CN" altLang="en-US" sz="1400" b="1" dirty="0">
                <a:solidFill>
                  <a:srgbClr val="A5AB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引擎实现事务与分析负载的统一处理。</a:t>
            </a:r>
            <a:endParaRPr lang="en-US" altLang="zh-CN" sz="1400" b="1" dirty="0">
              <a:solidFill>
                <a:srgbClr val="A5ABB7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A5AB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反观</a:t>
            </a:r>
            <a:r>
              <a:rPr lang="en-US" altLang="zh-CN" sz="1400" b="1" dirty="0">
                <a:solidFill>
                  <a:srgbClr val="A5AB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MySQL</a:t>
            </a:r>
            <a:r>
              <a:rPr lang="zh-CN" altLang="en-US" sz="1400" b="1" dirty="0">
                <a:solidFill>
                  <a:srgbClr val="A5ABB7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，其扩展性依赖外部的支持和协调，优化器无法全局统筹执行计划，导致复杂查询性能受限</a:t>
            </a:r>
            <a:r>
              <a:rPr lang="zh-CN" altLang="en-US" sz="1400" b="1" dirty="0">
                <a:solidFill>
                  <a:srgbClr val="5C5A5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。</a:t>
            </a:r>
            <a:endParaRPr lang="zh-CN" altLang="en-US" sz="1400" b="1" dirty="0">
              <a:solidFill>
                <a:srgbClr val="5C5A5D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+mn-ea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90600" y="266177"/>
            <a:ext cx="10458000" cy="834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4400" b="1" spc="100" dirty="0" err="1">
                <a:solidFill>
                  <a:srgbClr val="4276A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Oceanbase</a:t>
            </a:r>
            <a:r>
              <a:rPr lang="zh-CN" altLang="en-US" sz="4400" b="1" spc="100" dirty="0">
                <a:solidFill>
                  <a:srgbClr val="4276A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与</a:t>
            </a:r>
            <a:r>
              <a:rPr lang="en-US" altLang="zh-CN" sz="4400" b="1" spc="100" dirty="0">
                <a:solidFill>
                  <a:srgbClr val="4276A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MySQL</a:t>
            </a:r>
            <a:r>
              <a:rPr lang="zh-CN" altLang="en-US" sz="4400" b="1" spc="100" dirty="0">
                <a:solidFill>
                  <a:srgbClr val="4276A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的查询功能对比</a:t>
            </a:r>
            <a:endParaRPr lang="zh-CN" altLang="en-US" sz="4400" dirty="0">
              <a:cs typeface="+mn-ea"/>
              <a:sym typeface="+mn-lt"/>
            </a:endParaRPr>
          </a:p>
        </p:txBody>
      </p:sp>
      <p:pic>
        <p:nvPicPr>
          <p:cNvPr id="1026" name="Picture 2" descr="TOP100全球软件案例研究峰会">
            <a:extLst>
              <a:ext uri="{FF2B5EF4-FFF2-40B4-BE49-F238E27FC236}">
                <a16:creationId xmlns:a16="http://schemas.microsoft.com/office/drawing/2014/main" id="{78700D4B-26C1-1003-EB3A-F11B6E3B6B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4678" y="2367821"/>
            <a:ext cx="2122357" cy="212235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2940050" y="1807845"/>
            <a:ext cx="6311900" cy="2085826"/>
          </a:xfrm>
          <a:prstGeom prst="rect">
            <a:avLst/>
          </a:prstGeom>
        </p:spPr>
        <p:txBody>
          <a:bodyPr vert="horz" wrap="square" lIns="0" tIns="50863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04"/>
              </a:spcBef>
            </a:pPr>
            <a:r>
              <a:rPr sz="6000" spc="-15" dirty="0">
                <a:solidFill>
                  <a:srgbClr val="FFC000"/>
                </a:solidFill>
              </a:rPr>
              <a:t>谢谢聆听</a:t>
            </a:r>
            <a:endParaRPr sz="6000" dirty="0">
              <a:solidFill>
                <a:srgbClr val="FFC000"/>
              </a:solidFill>
            </a:endParaRPr>
          </a:p>
          <a:p>
            <a:pPr algn="ctr">
              <a:lnSpc>
                <a:spcPct val="100000"/>
              </a:lnSpc>
              <a:spcBef>
                <a:spcPts val="1075"/>
              </a:spcBef>
            </a:pPr>
            <a:r>
              <a:rPr sz="1650" b="0" spc="-5" dirty="0" err="1">
                <a:solidFill>
                  <a:srgbClr val="CBD4E1"/>
                </a:solidFill>
                <a:latin typeface="Microsoft JhengHei"/>
                <a:cs typeface="Microsoft JhengHei"/>
              </a:rPr>
              <a:t>三⼤环赛数据平台⽬前已运⾏稳定，即将进</a:t>
            </a:r>
            <a:r>
              <a:rPr sz="1650" b="0" spc="-5" dirty="0">
                <a:solidFill>
                  <a:srgbClr val="CBD4E1"/>
                </a:solidFill>
                <a:latin typeface="Microsoft JhengHei"/>
                <a:cs typeface="Microsoft JhengHei"/>
              </a:rPr>
              <a:t>⼊</a:t>
            </a:r>
            <a:r>
              <a:rPr lang="zh-CN" altLang="en-US" sz="1650" b="0" spc="-5" dirty="0">
                <a:solidFill>
                  <a:srgbClr val="CBD4E1"/>
                </a:solidFill>
                <a:latin typeface="Microsoft JhengHei"/>
                <a:cs typeface="Microsoft JhengHei"/>
              </a:rPr>
              <a:t>⾼级可视化和论坛功能</a:t>
            </a:r>
            <a:r>
              <a:rPr sz="1650" b="0" spc="-5" dirty="0" err="1">
                <a:solidFill>
                  <a:srgbClr val="CBD4E1"/>
                </a:solidFill>
                <a:latin typeface="Microsoft JhengHei"/>
                <a:cs typeface="Microsoft JhengHei"/>
              </a:rPr>
              <a:t>开发阶段</a:t>
            </a:r>
            <a:r>
              <a:rPr sz="1650" b="0" spc="-5" dirty="0">
                <a:solidFill>
                  <a:srgbClr val="CBD4E1"/>
                </a:solidFill>
                <a:latin typeface="Microsoft JhengHei"/>
                <a:cs typeface="Microsoft JhengHei"/>
              </a:rPr>
              <a:t>。</a:t>
            </a:r>
            <a:endParaRPr sz="1650" dirty="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5338;#407167;#407167;#407167;#407167;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</TotalTime>
  <Words>916</Words>
  <Application>Microsoft Office PowerPoint</Application>
  <PresentationFormat>宽屏</PresentationFormat>
  <Paragraphs>89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Microsoft JhengHei</vt:lpstr>
      <vt:lpstr>微软雅黑</vt:lpstr>
      <vt:lpstr>微软雅黑 Light</vt:lpstr>
      <vt:lpstr>Arial</vt:lpstr>
      <vt:lpstr>Courier New</vt:lpstr>
      <vt:lpstr>Office Theme</vt:lpstr>
      <vt:lpstr>公路车赛事数据分析与交流平台 数据库课程设计 - 中期汇报</vt:lpstr>
      <vt:lpstr>数据爬取工作</vt:lpstr>
      <vt:lpstr>PowerPoint 演示文稿</vt:lpstr>
      <vt:lpstr>数据库模式设计 (Schema)</vt:lpstr>
      <vt:lpstr>沉浸式 UI 体验</vt:lpstr>
      <vt:lpstr>赛事数据 查询引擎</vt:lpstr>
      <vt:lpstr>⻋⼿ 数据透视</vt:lpstr>
      <vt:lpstr>后端与 API 设计</vt:lpstr>
      <vt:lpstr>未来 开发规划</vt:lpstr>
      <vt:lpstr>PowerPoint 演示文稿</vt:lpstr>
      <vt:lpstr>谢谢聆听 三⼤环赛数据平台⽬前已运⾏稳定，即将进⼊⾼级可视化和论坛功能开发阶段。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三大环赛数据平台</dc:title>
  <cp:lastModifiedBy>佳煜 白</cp:lastModifiedBy>
  <cp:revision>8</cp:revision>
  <dcterms:created xsi:type="dcterms:W3CDTF">2025-11-18T13:29:53Z</dcterms:created>
  <dcterms:modified xsi:type="dcterms:W3CDTF">2025-11-19T14:01:09Z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2025-11-18T00:00:00Z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2025-11-18T00:00:00Z</vt:filetime>
  </property>
</Properties>
</file>